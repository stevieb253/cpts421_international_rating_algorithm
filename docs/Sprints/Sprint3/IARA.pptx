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4"/>
  </p:sldMasterIdLst>
  <p:notesMasterIdLst>
    <p:notesMasterId r:id="rId21"/>
  </p:notesMasterIdLst>
  <p:sldIdLst>
    <p:sldId id="256" r:id="rId5"/>
    <p:sldId id="260" r:id="rId6"/>
    <p:sldId id="311" r:id="rId7"/>
    <p:sldId id="312" r:id="rId8"/>
    <p:sldId id="313" r:id="rId9"/>
    <p:sldId id="314" r:id="rId10"/>
    <p:sldId id="315" r:id="rId11"/>
    <p:sldId id="316" r:id="rId12"/>
    <p:sldId id="323" r:id="rId13"/>
    <p:sldId id="324" r:id="rId14"/>
    <p:sldId id="325" r:id="rId15"/>
    <p:sldId id="317" r:id="rId16"/>
    <p:sldId id="320" r:id="rId17"/>
    <p:sldId id="318" r:id="rId18"/>
    <p:sldId id="319" r:id="rId19"/>
    <p:sldId id="321" r:id="rId20"/>
  </p:sldIdLst>
  <p:sldSz cx="9144000" cy="5143500" type="screen16x9"/>
  <p:notesSz cx="6858000" cy="9144000"/>
  <p:embeddedFontLst>
    <p:embeddedFont>
      <p:font typeface="Proxima Nova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63A8DB-F965-42A5-AE70-F5D3A98AD642}" v="3140" dt="2025-12-06T01:31:53.810"/>
    <p1510:client id="{8C8050C8-21A7-5542-7C83-3C1046902221}" v="956" dt="2025-12-06T03:57:03.409"/>
  </p1510:revLst>
</p1510:revInfo>
</file>

<file path=ppt/tableStyles.xml><?xml version="1.0" encoding="utf-8"?>
<a:tblStyleLst xmlns:a="http://schemas.openxmlformats.org/drawingml/2006/main" def="{3708E7E7-62C6-4042-9185-59C44F939590}">
  <a:tblStyle styleId="{3708E7E7-62C6-4042-9185-59C44F9395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876099C-CC95-4BF9-AAB5-F656CA040CB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6105084bd6_0_27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6105084bd6_0_27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>
          <a:extLst>
            <a:ext uri="{FF2B5EF4-FFF2-40B4-BE49-F238E27FC236}">
              <a16:creationId xmlns:a16="http://schemas.microsoft.com/office/drawing/2014/main" id="{1D493DB1-F961-8C6D-244B-390807E7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6105084bd6_0_27457:notes">
            <a:extLst>
              <a:ext uri="{FF2B5EF4-FFF2-40B4-BE49-F238E27FC236}">
                <a16:creationId xmlns:a16="http://schemas.microsoft.com/office/drawing/2014/main" id="{EF9DDF50-5C68-AF61-6FD0-F2034358C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6105084bd6_0_27457:notes">
            <a:extLst>
              <a:ext uri="{FF2B5EF4-FFF2-40B4-BE49-F238E27FC236}">
                <a16:creationId xmlns:a16="http://schemas.microsoft.com/office/drawing/2014/main" id="{0A4D99A3-C458-00ED-2946-16E28E751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3967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>
          <a:extLst>
            <a:ext uri="{FF2B5EF4-FFF2-40B4-BE49-F238E27FC236}">
              <a16:creationId xmlns:a16="http://schemas.microsoft.com/office/drawing/2014/main" id="{2510CB45-A763-6FA3-E860-1295314CE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6105084bd6_0_27457:notes">
            <a:extLst>
              <a:ext uri="{FF2B5EF4-FFF2-40B4-BE49-F238E27FC236}">
                <a16:creationId xmlns:a16="http://schemas.microsoft.com/office/drawing/2014/main" id="{862534C6-43CF-C16D-EA84-5FBF46ECD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6105084bd6_0_27457:notes">
            <a:extLst>
              <a:ext uri="{FF2B5EF4-FFF2-40B4-BE49-F238E27FC236}">
                <a16:creationId xmlns:a16="http://schemas.microsoft.com/office/drawing/2014/main" id="{E498C767-135C-25A6-4915-34F550E80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420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>
          <a:extLst>
            <a:ext uri="{FF2B5EF4-FFF2-40B4-BE49-F238E27FC236}">
              <a16:creationId xmlns:a16="http://schemas.microsoft.com/office/drawing/2014/main" id="{F1493A61-EF19-53A5-9A9F-A229B9C6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6105084bd6_0_27457:notes">
            <a:extLst>
              <a:ext uri="{FF2B5EF4-FFF2-40B4-BE49-F238E27FC236}">
                <a16:creationId xmlns:a16="http://schemas.microsoft.com/office/drawing/2014/main" id="{218F6907-B7C2-F2D0-8857-BBE34C625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6105084bd6_0_27457:notes">
            <a:extLst>
              <a:ext uri="{FF2B5EF4-FFF2-40B4-BE49-F238E27FC236}">
                <a16:creationId xmlns:a16="http://schemas.microsoft.com/office/drawing/2014/main" id="{B2FF2923-76F0-F683-6333-A1112B1FB0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8410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>
          <a:extLst>
            <a:ext uri="{FF2B5EF4-FFF2-40B4-BE49-F238E27FC236}">
              <a16:creationId xmlns:a16="http://schemas.microsoft.com/office/drawing/2014/main" id="{334714C1-71DC-3DF8-4431-AF037F89D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6105084bd6_0_27457:notes">
            <a:extLst>
              <a:ext uri="{FF2B5EF4-FFF2-40B4-BE49-F238E27FC236}">
                <a16:creationId xmlns:a16="http://schemas.microsoft.com/office/drawing/2014/main" id="{16DA5F53-279F-044D-46A2-B0F138131A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6105084bd6_0_27457:notes">
            <a:extLst>
              <a:ext uri="{FF2B5EF4-FFF2-40B4-BE49-F238E27FC236}">
                <a16:creationId xmlns:a16="http://schemas.microsoft.com/office/drawing/2014/main" id="{C17E3D5C-F1CB-4CEA-A0B0-69AAA4BDBC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3164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>
          <a:extLst>
            <a:ext uri="{FF2B5EF4-FFF2-40B4-BE49-F238E27FC236}">
              <a16:creationId xmlns:a16="http://schemas.microsoft.com/office/drawing/2014/main" id="{16272D5C-C50C-6817-08F9-E9659E9B3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6105084bd6_0_27457:notes">
            <a:extLst>
              <a:ext uri="{FF2B5EF4-FFF2-40B4-BE49-F238E27FC236}">
                <a16:creationId xmlns:a16="http://schemas.microsoft.com/office/drawing/2014/main" id="{82D95FB5-22DC-C5C4-B89E-8E1DC8AFF4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6105084bd6_0_27457:notes">
            <a:extLst>
              <a:ext uri="{FF2B5EF4-FFF2-40B4-BE49-F238E27FC236}">
                <a16:creationId xmlns:a16="http://schemas.microsoft.com/office/drawing/2014/main" id="{819C3807-74EC-8F9A-E7C8-2974F3A11A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886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>
          <a:extLst>
            <a:ext uri="{FF2B5EF4-FFF2-40B4-BE49-F238E27FC236}">
              <a16:creationId xmlns:a16="http://schemas.microsoft.com/office/drawing/2014/main" id="{ED2AC7E5-5824-992F-9990-24CD904F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6105084bd6_0_27457:notes">
            <a:extLst>
              <a:ext uri="{FF2B5EF4-FFF2-40B4-BE49-F238E27FC236}">
                <a16:creationId xmlns:a16="http://schemas.microsoft.com/office/drawing/2014/main" id="{34A67783-FED4-620D-6A7D-16D39A3AF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6105084bd6_0_27457:notes">
            <a:extLst>
              <a:ext uri="{FF2B5EF4-FFF2-40B4-BE49-F238E27FC236}">
                <a16:creationId xmlns:a16="http://schemas.microsoft.com/office/drawing/2014/main" id="{DCFD73F1-4B0B-0583-616F-B841AB920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362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>
          <a:extLst>
            <a:ext uri="{FF2B5EF4-FFF2-40B4-BE49-F238E27FC236}">
              <a16:creationId xmlns:a16="http://schemas.microsoft.com/office/drawing/2014/main" id="{72828883-DB11-4927-360C-E6298A914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6105084bd6_0_27457:notes">
            <a:extLst>
              <a:ext uri="{FF2B5EF4-FFF2-40B4-BE49-F238E27FC236}">
                <a16:creationId xmlns:a16="http://schemas.microsoft.com/office/drawing/2014/main" id="{8D4CCE79-0BC6-4194-F4F8-6B657F6FA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6105084bd6_0_27457:notes">
            <a:extLst>
              <a:ext uri="{FF2B5EF4-FFF2-40B4-BE49-F238E27FC236}">
                <a16:creationId xmlns:a16="http://schemas.microsoft.com/office/drawing/2014/main" id="{CA2E51CD-21C0-8A0C-B3E4-7363DC9172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2477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>
          <a:extLst>
            <a:ext uri="{FF2B5EF4-FFF2-40B4-BE49-F238E27FC236}">
              <a16:creationId xmlns:a16="http://schemas.microsoft.com/office/drawing/2014/main" id="{8BFB01A2-8AEE-D94F-E214-239D651D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6105084bd6_0_27457:notes">
            <a:extLst>
              <a:ext uri="{FF2B5EF4-FFF2-40B4-BE49-F238E27FC236}">
                <a16:creationId xmlns:a16="http://schemas.microsoft.com/office/drawing/2014/main" id="{473C47C9-73DA-7CA5-29AF-0813F9D06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6105084bd6_0_27457:notes">
            <a:extLst>
              <a:ext uri="{FF2B5EF4-FFF2-40B4-BE49-F238E27FC236}">
                <a16:creationId xmlns:a16="http://schemas.microsoft.com/office/drawing/2014/main" id="{ECD5E36B-88AF-F894-942C-CA002A719C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0672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>
          <a:extLst>
            <a:ext uri="{FF2B5EF4-FFF2-40B4-BE49-F238E27FC236}">
              <a16:creationId xmlns:a16="http://schemas.microsoft.com/office/drawing/2014/main" id="{13AE2092-7609-6221-AB4E-BB997BBA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6105084bd6_0_27457:notes">
            <a:extLst>
              <a:ext uri="{FF2B5EF4-FFF2-40B4-BE49-F238E27FC236}">
                <a16:creationId xmlns:a16="http://schemas.microsoft.com/office/drawing/2014/main" id="{DDA93613-B3C1-709C-A24E-C4668C3CB1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6105084bd6_0_27457:notes">
            <a:extLst>
              <a:ext uri="{FF2B5EF4-FFF2-40B4-BE49-F238E27FC236}">
                <a16:creationId xmlns:a16="http://schemas.microsoft.com/office/drawing/2014/main" id="{08073506-FF72-1F1B-B0FE-383411D20C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606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>
          <a:extLst>
            <a:ext uri="{FF2B5EF4-FFF2-40B4-BE49-F238E27FC236}">
              <a16:creationId xmlns:a16="http://schemas.microsoft.com/office/drawing/2014/main" id="{3AC63BF3-B9E8-B922-5474-EC302143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6105084bd6_0_27457:notes">
            <a:extLst>
              <a:ext uri="{FF2B5EF4-FFF2-40B4-BE49-F238E27FC236}">
                <a16:creationId xmlns:a16="http://schemas.microsoft.com/office/drawing/2014/main" id="{5D3ABA89-507C-D227-9423-31B4C93BA5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6105084bd6_0_27457:notes">
            <a:extLst>
              <a:ext uri="{FF2B5EF4-FFF2-40B4-BE49-F238E27FC236}">
                <a16:creationId xmlns:a16="http://schemas.microsoft.com/office/drawing/2014/main" id="{BB8D40AD-9964-B826-2AA3-013B4A23DF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82604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>
          <a:extLst>
            <a:ext uri="{FF2B5EF4-FFF2-40B4-BE49-F238E27FC236}">
              <a16:creationId xmlns:a16="http://schemas.microsoft.com/office/drawing/2014/main" id="{664B22B3-53C9-5090-5E0C-0F2D09E3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6105084bd6_0_27457:notes">
            <a:extLst>
              <a:ext uri="{FF2B5EF4-FFF2-40B4-BE49-F238E27FC236}">
                <a16:creationId xmlns:a16="http://schemas.microsoft.com/office/drawing/2014/main" id="{D6117999-FE44-43D7-689E-6C9E43CDD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6105084bd6_0_27457:notes">
            <a:extLst>
              <a:ext uri="{FF2B5EF4-FFF2-40B4-BE49-F238E27FC236}">
                <a16:creationId xmlns:a16="http://schemas.microsoft.com/office/drawing/2014/main" id="{46F0B4F9-5341-9513-441B-1306535F6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7791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471100" y="1190700"/>
            <a:ext cx="4201800" cy="2280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471100" y="3508175"/>
            <a:ext cx="4201800" cy="44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22375" y="4604000"/>
            <a:ext cx="2278800" cy="330600"/>
            <a:chOff x="722375" y="4604000"/>
            <a:chExt cx="2278800" cy="330600"/>
          </a:xfrm>
        </p:grpSpPr>
        <p:sp>
          <p:nvSpPr>
            <p:cNvPr id="12" name="Google Shape;12;p2"/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4" name="Google Shape;14;p2"/>
          <p:cNvCxnSpPr/>
          <p:nvPr/>
        </p:nvCxnSpPr>
        <p:spPr>
          <a:xfrm>
            <a:off x="731625" y="4604000"/>
            <a:ext cx="846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>
            <a:spLocks noGrp="1"/>
          </p:cNvSpPr>
          <p:nvPr>
            <p:ph type="title"/>
          </p:nvPr>
        </p:nvSpPr>
        <p:spPr>
          <a:xfrm>
            <a:off x="1566900" y="1411513"/>
            <a:ext cx="6010200" cy="1055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subTitle" idx="1"/>
          </p:nvPr>
        </p:nvSpPr>
        <p:spPr>
          <a:xfrm>
            <a:off x="1566900" y="2300687"/>
            <a:ext cx="6010200" cy="14313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8" name="Google Shape;108;p9"/>
          <p:cNvSpPr/>
          <p:nvPr/>
        </p:nvSpPr>
        <p:spPr>
          <a:xfrm rot="5400000" flipH="1">
            <a:off x="981875" y="-63200"/>
            <a:ext cx="343200" cy="86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9" name="Google Shape;109;p9"/>
          <p:cNvCxnSpPr/>
          <p:nvPr/>
        </p:nvCxnSpPr>
        <p:spPr>
          <a:xfrm rot="10800000">
            <a:off x="722375" y="-20500"/>
            <a:ext cx="0" cy="4624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>
            <a:spLocks noGrp="1"/>
          </p:cNvSpPr>
          <p:nvPr>
            <p:ph type="title"/>
          </p:nvPr>
        </p:nvSpPr>
        <p:spPr>
          <a:xfrm>
            <a:off x="1317776" y="1749100"/>
            <a:ext cx="6553200" cy="1015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5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18"/>
          <p:cNvSpPr txBox="1">
            <a:spLocks noGrp="1"/>
          </p:cNvSpPr>
          <p:nvPr>
            <p:ph type="subTitle" idx="1"/>
          </p:nvPr>
        </p:nvSpPr>
        <p:spPr>
          <a:xfrm>
            <a:off x="1317725" y="2588000"/>
            <a:ext cx="6553200" cy="1239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03" name="Google Shape;203;p18"/>
          <p:cNvGrpSpPr/>
          <p:nvPr/>
        </p:nvGrpSpPr>
        <p:grpSpPr>
          <a:xfrm>
            <a:off x="722375" y="4604000"/>
            <a:ext cx="2278800" cy="330600"/>
            <a:chOff x="722375" y="4604000"/>
            <a:chExt cx="2278800" cy="330600"/>
          </a:xfrm>
        </p:grpSpPr>
        <p:sp>
          <p:nvSpPr>
            <p:cNvPr id="204" name="Google Shape;204;p18"/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8"/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" name="Google Shape;206;p18"/>
          <p:cNvSpPr/>
          <p:nvPr/>
        </p:nvSpPr>
        <p:spPr>
          <a:xfrm flipH="1">
            <a:off x="8421625" y="539500"/>
            <a:ext cx="343200" cy="86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7" name="Google Shape;207;p18"/>
          <p:cNvCxnSpPr/>
          <p:nvPr/>
        </p:nvCxnSpPr>
        <p:spPr>
          <a:xfrm>
            <a:off x="-95250" y="4604025"/>
            <a:ext cx="309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_2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7" name="Google Shape;297;p27"/>
          <p:cNvSpPr txBox="1">
            <a:spLocks noGrp="1"/>
          </p:cNvSpPr>
          <p:nvPr>
            <p:ph type="subTitle" idx="1"/>
          </p:nvPr>
        </p:nvSpPr>
        <p:spPr>
          <a:xfrm>
            <a:off x="2619488" y="1348525"/>
            <a:ext cx="4773600" cy="4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7"/>
          <p:cNvSpPr txBox="1">
            <a:spLocks noGrp="1"/>
          </p:cNvSpPr>
          <p:nvPr>
            <p:ph type="subTitle" idx="2"/>
          </p:nvPr>
        </p:nvSpPr>
        <p:spPr>
          <a:xfrm>
            <a:off x="2619488" y="1702673"/>
            <a:ext cx="4773600" cy="3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299" name="Google Shape;299;p27"/>
          <p:cNvSpPr txBox="1">
            <a:spLocks noGrp="1"/>
          </p:cNvSpPr>
          <p:nvPr>
            <p:ph type="subTitle" idx="3"/>
          </p:nvPr>
        </p:nvSpPr>
        <p:spPr>
          <a:xfrm>
            <a:off x="2619488" y="2508601"/>
            <a:ext cx="4773600" cy="4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7"/>
          <p:cNvSpPr txBox="1">
            <a:spLocks noGrp="1"/>
          </p:cNvSpPr>
          <p:nvPr>
            <p:ph type="subTitle" idx="4"/>
          </p:nvPr>
        </p:nvSpPr>
        <p:spPr>
          <a:xfrm>
            <a:off x="2619488" y="2862749"/>
            <a:ext cx="4773600" cy="3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301" name="Google Shape;301;p27"/>
          <p:cNvSpPr txBox="1">
            <a:spLocks noGrp="1"/>
          </p:cNvSpPr>
          <p:nvPr>
            <p:ph type="subTitle" idx="5"/>
          </p:nvPr>
        </p:nvSpPr>
        <p:spPr>
          <a:xfrm>
            <a:off x="2619488" y="3668677"/>
            <a:ext cx="4773600" cy="4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27"/>
          <p:cNvSpPr txBox="1">
            <a:spLocks noGrp="1"/>
          </p:cNvSpPr>
          <p:nvPr>
            <p:ph type="subTitle" idx="6"/>
          </p:nvPr>
        </p:nvSpPr>
        <p:spPr>
          <a:xfrm>
            <a:off x="2619488" y="4022825"/>
            <a:ext cx="4773600" cy="3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303" name="Google Shape;303;p27"/>
          <p:cNvSpPr/>
          <p:nvPr/>
        </p:nvSpPr>
        <p:spPr>
          <a:xfrm rot="-5400000">
            <a:off x="-613875" y="1629203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7"/>
          <p:cNvSpPr/>
          <p:nvPr/>
        </p:nvSpPr>
        <p:spPr>
          <a:xfrm>
            <a:off x="119500" y="159888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5" name="Google Shape;305;p27"/>
          <p:cNvGrpSpPr/>
          <p:nvPr/>
        </p:nvGrpSpPr>
        <p:grpSpPr>
          <a:xfrm>
            <a:off x="6142825" y="4604000"/>
            <a:ext cx="2278800" cy="330600"/>
            <a:chOff x="722375" y="4604000"/>
            <a:chExt cx="2278800" cy="330600"/>
          </a:xfrm>
        </p:grpSpPr>
        <p:sp>
          <p:nvSpPr>
            <p:cNvPr id="306" name="Google Shape;306;p27"/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8" name="Google Shape;308;p27"/>
          <p:cNvSpPr/>
          <p:nvPr/>
        </p:nvSpPr>
        <p:spPr>
          <a:xfrm flipH="1">
            <a:off x="379175" y="3741925"/>
            <a:ext cx="343200" cy="86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9" name="Google Shape;309;p27"/>
          <p:cNvCxnSpPr/>
          <p:nvPr/>
        </p:nvCxnSpPr>
        <p:spPr>
          <a:xfrm>
            <a:off x="-30375" y="4604000"/>
            <a:ext cx="846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0" name="Google Shape;310;p27"/>
          <p:cNvGrpSpPr/>
          <p:nvPr/>
        </p:nvGrpSpPr>
        <p:grpSpPr>
          <a:xfrm>
            <a:off x="5728725" y="-329612"/>
            <a:ext cx="3415264" cy="869112"/>
            <a:chOff x="5728725" y="-329612"/>
            <a:chExt cx="3415264" cy="869112"/>
          </a:xfrm>
        </p:grpSpPr>
        <p:cxnSp>
          <p:nvCxnSpPr>
            <p:cNvPr id="311" name="Google Shape;311;p27"/>
            <p:cNvCxnSpPr/>
            <p:nvPr/>
          </p:nvCxnSpPr>
          <p:spPr>
            <a:xfrm rot="10800000">
              <a:off x="5728789" y="-329612"/>
              <a:ext cx="3415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2" name="Google Shape;312;p27"/>
            <p:cNvCxnSpPr/>
            <p:nvPr/>
          </p:nvCxnSpPr>
          <p:spPr>
            <a:xfrm rot="10800000">
              <a:off x="5728789" y="104911"/>
              <a:ext cx="3415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3" name="Google Shape;313;p27"/>
            <p:cNvCxnSpPr/>
            <p:nvPr/>
          </p:nvCxnSpPr>
          <p:spPr>
            <a:xfrm rot="10800000">
              <a:off x="5728789" y="539434"/>
              <a:ext cx="3415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4" name="Google Shape;314;p27"/>
            <p:cNvCxnSpPr/>
            <p:nvPr/>
          </p:nvCxnSpPr>
          <p:spPr>
            <a:xfrm>
              <a:off x="8715000" y="-322700"/>
              <a:ext cx="0" cy="862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5" name="Google Shape;315;p27"/>
            <p:cNvCxnSpPr/>
            <p:nvPr/>
          </p:nvCxnSpPr>
          <p:spPr>
            <a:xfrm>
              <a:off x="8286003" y="-322700"/>
              <a:ext cx="0" cy="862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6" name="Google Shape;316;p27"/>
            <p:cNvCxnSpPr/>
            <p:nvPr/>
          </p:nvCxnSpPr>
          <p:spPr>
            <a:xfrm>
              <a:off x="7862574" y="-322700"/>
              <a:ext cx="0" cy="862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" name="Google Shape;317;p27"/>
            <p:cNvCxnSpPr/>
            <p:nvPr/>
          </p:nvCxnSpPr>
          <p:spPr>
            <a:xfrm>
              <a:off x="7433577" y="-322700"/>
              <a:ext cx="0" cy="862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8" name="Google Shape;318;p27"/>
            <p:cNvCxnSpPr/>
            <p:nvPr/>
          </p:nvCxnSpPr>
          <p:spPr>
            <a:xfrm>
              <a:off x="7010148" y="-322700"/>
              <a:ext cx="0" cy="862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9" name="Google Shape;319;p27"/>
            <p:cNvCxnSpPr/>
            <p:nvPr/>
          </p:nvCxnSpPr>
          <p:spPr>
            <a:xfrm>
              <a:off x="6581151" y="-322700"/>
              <a:ext cx="0" cy="862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0" name="Google Shape;320;p27"/>
            <p:cNvCxnSpPr/>
            <p:nvPr/>
          </p:nvCxnSpPr>
          <p:spPr>
            <a:xfrm>
              <a:off x="6157722" y="-322700"/>
              <a:ext cx="0" cy="862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1" name="Google Shape;321;p27"/>
            <p:cNvCxnSpPr/>
            <p:nvPr/>
          </p:nvCxnSpPr>
          <p:spPr>
            <a:xfrm>
              <a:off x="5728725" y="-322700"/>
              <a:ext cx="0" cy="862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33"/>
          <p:cNvGrpSpPr/>
          <p:nvPr/>
        </p:nvGrpSpPr>
        <p:grpSpPr>
          <a:xfrm flipH="1">
            <a:off x="8014675" y="343325"/>
            <a:ext cx="813900" cy="818100"/>
            <a:chOff x="8014675" y="343325"/>
            <a:chExt cx="813900" cy="818100"/>
          </a:xfrm>
        </p:grpSpPr>
        <p:sp>
          <p:nvSpPr>
            <p:cNvPr id="410" name="Google Shape;410;p33"/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3"/>
            <p:cNvSpPr/>
            <p:nvPr/>
          </p:nvSpPr>
          <p:spPr>
            <a:xfrm rot="-5400000">
              <a:off x="8012575" y="345425"/>
              <a:ext cx="818100" cy="8139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0" y="-324216"/>
            <a:ext cx="3415275" cy="863739"/>
            <a:chOff x="0" y="1610650"/>
            <a:chExt cx="4201864" cy="1062671"/>
          </a:xfrm>
        </p:grpSpPr>
        <p:cxnSp>
          <p:nvCxnSpPr>
            <p:cNvPr id="413" name="Google Shape;413;p33"/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4" name="Google Shape;414;p33"/>
            <p:cNvCxnSpPr/>
            <p:nvPr/>
          </p:nvCxnSpPr>
          <p:spPr>
            <a:xfrm>
              <a:off x="527805" y="1612521"/>
              <a:ext cx="0" cy="1060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5" name="Google Shape;415;p33"/>
            <p:cNvCxnSpPr/>
            <p:nvPr/>
          </p:nvCxnSpPr>
          <p:spPr>
            <a:xfrm>
              <a:off x="1055606" y="1612521"/>
              <a:ext cx="0" cy="1060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6" name="Google Shape;416;p33"/>
            <p:cNvCxnSpPr/>
            <p:nvPr/>
          </p:nvCxnSpPr>
          <p:spPr>
            <a:xfrm>
              <a:off x="1576558" y="1612521"/>
              <a:ext cx="0" cy="1060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7" name="Google Shape;417;p33"/>
            <p:cNvCxnSpPr/>
            <p:nvPr/>
          </p:nvCxnSpPr>
          <p:spPr>
            <a:xfrm>
              <a:off x="2104359" y="1612521"/>
              <a:ext cx="0" cy="1060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" name="Google Shape;418;p33"/>
            <p:cNvCxnSpPr/>
            <p:nvPr/>
          </p:nvCxnSpPr>
          <p:spPr>
            <a:xfrm>
              <a:off x="2625310" y="1612521"/>
              <a:ext cx="0" cy="1060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" name="Google Shape;419;p33"/>
            <p:cNvCxnSpPr/>
            <p:nvPr/>
          </p:nvCxnSpPr>
          <p:spPr>
            <a:xfrm>
              <a:off x="3153111" y="1612521"/>
              <a:ext cx="0" cy="1060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0" name="Google Shape;420;p33"/>
            <p:cNvCxnSpPr/>
            <p:nvPr/>
          </p:nvCxnSpPr>
          <p:spPr>
            <a:xfrm>
              <a:off x="3674063" y="1612521"/>
              <a:ext cx="0" cy="1060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1" name="Google Shape;421;p33"/>
            <p:cNvCxnSpPr/>
            <p:nvPr/>
          </p:nvCxnSpPr>
          <p:spPr>
            <a:xfrm>
              <a:off x="4201864" y="1612521"/>
              <a:ext cx="0" cy="1060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2" name="Google Shape;422;p33"/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3" name="Google Shape;423;p33"/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24" name="Google Shape;424;p33"/>
          <p:cNvGrpSpPr/>
          <p:nvPr/>
        </p:nvGrpSpPr>
        <p:grpSpPr>
          <a:xfrm>
            <a:off x="6142825" y="4604000"/>
            <a:ext cx="2278800" cy="330600"/>
            <a:chOff x="722375" y="4604000"/>
            <a:chExt cx="2278800" cy="330600"/>
          </a:xfrm>
        </p:grpSpPr>
        <p:sp>
          <p:nvSpPr>
            <p:cNvPr id="425" name="Google Shape;425;p33"/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3"/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7" name="Google Shape;427;p33"/>
          <p:cNvSpPr/>
          <p:nvPr/>
        </p:nvSpPr>
        <p:spPr>
          <a:xfrm flipH="1">
            <a:off x="722375" y="3741925"/>
            <a:ext cx="343200" cy="86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8" name="Google Shape;428;p33"/>
          <p:cNvCxnSpPr/>
          <p:nvPr/>
        </p:nvCxnSpPr>
        <p:spPr>
          <a:xfrm>
            <a:off x="-30375" y="4604000"/>
            <a:ext cx="846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9" name="Google Shape;429;p33"/>
          <p:cNvSpPr/>
          <p:nvPr/>
        </p:nvSpPr>
        <p:spPr>
          <a:xfrm>
            <a:off x="420950" y="265665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>
            <a:off x="5494025" y="-419872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34"/>
          <p:cNvGrpSpPr/>
          <p:nvPr/>
        </p:nvGrpSpPr>
        <p:grpSpPr>
          <a:xfrm flipH="1">
            <a:off x="153700" y="1320713"/>
            <a:ext cx="813900" cy="818100"/>
            <a:chOff x="8014675" y="343325"/>
            <a:chExt cx="813900" cy="818100"/>
          </a:xfrm>
        </p:grpSpPr>
        <p:sp>
          <p:nvSpPr>
            <p:cNvPr id="433" name="Google Shape;433;p34"/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4"/>
            <p:cNvSpPr/>
            <p:nvPr/>
          </p:nvSpPr>
          <p:spPr>
            <a:xfrm rot="-5400000">
              <a:off x="8012575" y="345425"/>
              <a:ext cx="818100" cy="8139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34"/>
          <p:cNvGrpSpPr/>
          <p:nvPr/>
        </p:nvGrpSpPr>
        <p:grpSpPr>
          <a:xfrm rot="5400000">
            <a:off x="7447475" y="1513600"/>
            <a:ext cx="2278800" cy="330600"/>
            <a:chOff x="722375" y="4604000"/>
            <a:chExt cx="2278800" cy="330600"/>
          </a:xfrm>
        </p:grpSpPr>
        <p:sp>
          <p:nvSpPr>
            <p:cNvPr id="436" name="Google Shape;436;p34"/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4"/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34"/>
          <p:cNvSpPr/>
          <p:nvPr/>
        </p:nvSpPr>
        <p:spPr>
          <a:xfrm>
            <a:off x="6055650" y="28885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9" name="Google Shape;439;p34"/>
          <p:cNvGrpSpPr/>
          <p:nvPr/>
        </p:nvGrpSpPr>
        <p:grpSpPr>
          <a:xfrm>
            <a:off x="0" y="2970650"/>
            <a:ext cx="1710416" cy="2172900"/>
            <a:chOff x="0" y="2970650"/>
            <a:chExt cx="1710416" cy="2172900"/>
          </a:xfrm>
        </p:grpSpPr>
        <p:cxnSp>
          <p:nvCxnSpPr>
            <p:cNvPr id="440" name="Google Shape;440;p34"/>
            <p:cNvCxnSpPr/>
            <p:nvPr/>
          </p:nvCxnSpPr>
          <p:spPr>
            <a:xfrm>
              <a:off x="0" y="3410732"/>
              <a:ext cx="1710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1" name="Google Shape;441;p34"/>
            <p:cNvCxnSpPr/>
            <p:nvPr/>
          </p:nvCxnSpPr>
          <p:spPr>
            <a:xfrm>
              <a:off x="0" y="3845254"/>
              <a:ext cx="1710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2" name="Google Shape;442;p34"/>
            <p:cNvCxnSpPr/>
            <p:nvPr/>
          </p:nvCxnSpPr>
          <p:spPr>
            <a:xfrm>
              <a:off x="0" y="4279776"/>
              <a:ext cx="1710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3" name="Google Shape;443;p34"/>
            <p:cNvCxnSpPr/>
            <p:nvPr/>
          </p:nvCxnSpPr>
          <p:spPr>
            <a:xfrm>
              <a:off x="428996" y="2970650"/>
              <a:ext cx="0" cy="2172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4" name="Google Shape;444;p34"/>
            <p:cNvCxnSpPr/>
            <p:nvPr/>
          </p:nvCxnSpPr>
          <p:spPr>
            <a:xfrm>
              <a:off x="857992" y="2970650"/>
              <a:ext cx="0" cy="2172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5" name="Google Shape;445;p34"/>
            <p:cNvCxnSpPr/>
            <p:nvPr/>
          </p:nvCxnSpPr>
          <p:spPr>
            <a:xfrm>
              <a:off x="1281420" y="2970650"/>
              <a:ext cx="0" cy="2172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6" name="Google Shape;446;p34"/>
            <p:cNvCxnSpPr/>
            <p:nvPr/>
          </p:nvCxnSpPr>
          <p:spPr>
            <a:xfrm>
              <a:off x="1710416" y="2970650"/>
              <a:ext cx="0" cy="2172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7" name="Google Shape;447;p34"/>
            <p:cNvCxnSpPr/>
            <p:nvPr/>
          </p:nvCxnSpPr>
          <p:spPr>
            <a:xfrm>
              <a:off x="0" y="4708975"/>
              <a:ext cx="1710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8" name="Google Shape;448;p34"/>
            <p:cNvCxnSpPr/>
            <p:nvPr/>
          </p:nvCxnSpPr>
          <p:spPr>
            <a:xfrm>
              <a:off x="0" y="2976250"/>
              <a:ext cx="1710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49" name="Google Shape;449;p34"/>
          <p:cNvCxnSpPr/>
          <p:nvPr/>
        </p:nvCxnSpPr>
        <p:spPr>
          <a:xfrm rot="10800000">
            <a:off x="8421625" y="542200"/>
            <a:ext cx="0" cy="469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0" name="Google Shape;450;p34"/>
          <p:cNvSpPr/>
          <p:nvPr/>
        </p:nvSpPr>
        <p:spPr>
          <a:xfrm rot="-5400000" flipH="1">
            <a:off x="7818925" y="4001300"/>
            <a:ext cx="343200" cy="86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34"/>
          <p:cNvSpPr/>
          <p:nvPr/>
        </p:nvSpPr>
        <p:spPr>
          <a:xfrm>
            <a:off x="2230800" y="-538247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4" r:id="rId4"/>
    <p:sldLayoutId id="2147483673" r:id="rId5"/>
    <p:sldLayoutId id="2147483678" r:id="rId6"/>
    <p:sldLayoutId id="2147483679" r:id="rId7"/>
    <p:sldLayoutId id="214748368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38"/>
          <p:cNvGrpSpPr/>
          <p:nvPr/>
        </p:nvGrpSpPr>
        <p:grpSpPr>
          <a:xfrm>
            <a:off x="0" y="0"/>
            <a:ext cx="3415264" cy="2172858"/>
            <a:chOff x="0" y="3"/>
            <a:chExt cx="4201850" cy="2673300"/>
          </a:xfrm>
        </p:grpSpPr>
        <p:cxnSp>
          <p:nvCxnSpPr>
            <p:cNvPr id="463" name="Google Shape;463;p38"/>
            <p:cNvCxnSpPr/>
            <p:nvPr/>
          </p:nvCxnSpPr>
          <p:spPr>
            <a:xfrm>
              <a:off x="0" y="5414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4" name="Google Shape;464;p38"/>
            <p:cNvCxnSpPr/>
            <p:nvPr/>
          </p:nvCxnSpPr>
          <p:spPr>
            <a:xfrm>
              <a:off x="0" y="10760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5" name="Google Shape;465;p38"/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6" name="Google Shape;466;p38"/>
            <p:cNvCxnSpPr/>
            <p:nvPr/>
          </p:nvCxnSpPr>
          <p:spPr>
            <a:xfrm>
              <a:off x="5278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7" name="Google Shape;467;p38"/>
            <p:cNvCxnSpPr/>
            <p:nvPr/>
          </p:nvCxnSpPr>
          <p:spPr>
            <a:xfrm>
              <a:off x="10556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8" name="Google Shape;468;p38"/>
            <p:cNvCxnSpPr/>
            <p:nvPr/>
          </p:nvCxnSpPr>
          <p:spPr>
            <a:xfrm>
              <a:off x="15765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9" name="Google Shape;469;p38"/>
            <p:cNvCxnSpPr/>
            <p:nvPr/>
          </p:nvCxnSpPr>
          <p:spPr>
            <a:xfrm>
              <a:off x="21043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0" name="Google Shape;470;p38"/>
            <p:cNvCxnSpPr/>
            <p:nvPr/>
          </p:nvCxnSpPr>
          <p:spPr>
            <a:xfrm>
              <a:off x="26253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1" name="Google Shape;471;p38"/>
            <p:cNvCxnSpPr/>
            <p:nvPr/>
          </p:nvCxnSpPr>
          <p:spPr>
            <a:xfrm>
              <a:off x="31531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2" name="Google Shape;472;p38"/>
            <p:cNvCxnSpPr/>
            <p:nvPr/>
          </p:nvCxnSpPr>
          <p:spPr>
            <a:xfrm>
              <a:off x="36740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3" name="Google Shape;473;p38"/>
            <p:cNvCxnSpPr/>
            <p:nvPr/>
          </p:nvCxnSpPr>
          <p:spPr>
            <a:xfrm>
              <a:off x="42018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4" name="Google Shape;474;p38"/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5" name="Google Shape;475;p38"/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6" name="Google Shape;476;p38"/>
          <p:cNvSpPr txBox="1">
            <a:spLocks noGrp="1"/>
          </p:cNvSpPr>
          <p:nvPr>
            <p:ph type="subTitle" idx="1"/>
          </p:nvPr>
        </p:nvSpPr>
        <p:spPr>
          <a:xfrm>
            <a:off x="2471100" y="3508175"/>
            <a:ext cx="4201800" cy="6171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Khushi Panchal &amp; Steven Bennett</a:t>
            </a:r>
            <a:endParaRPr lang="en">
              <a:latin typeface="Proxima Nova"/>
              <a:ea typeface="Proxima Nova"/>
              <a:cs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12/05/2025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7" name="Google Shape;477;p38"/>
          <p:cNvSpPr/>
          <p:nvPr/>
        </p:nvSpPr>
        <p:spPr>
          <a:xfrm flipH="1">
            <a:off x="8250000" y="3741925"/>
            <a:ext cx="343200" cy="86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8"/>
          <p:cNvSpPr/>
          <p:nvPr/>
        </p:nvSpPr>
        <p:spPr>
          <a:xfrm>
            <a:off x="420950" y="324810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38"/>
          <p:cNvSpPr/>
          <p:nvPr/>
        </p:nvSpPr>
        <p:spPr>
          <a:xfrm>
            <a:off x="5658331" y="-362722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0" name="Google Shape;480;p38"/>
          <p:cNvGrpSpPr/>
          <p:nvPr/>
        </p:nvGrpSpPr>
        <p:grpSpPr>
          <a:xfrm>
            <a:off x="8012575" y="345425"/>
            <a:ext cx="818100" cy="813900"/>
            <a:chOff x="8012575" y="345425"/>
            <a:chExt cx="818100" cy="813900"/>
          </a:xfrm>
        </p:grpSpPr>
        <p:sp>
          <p:nvSpPr>
            <p:cNvPr id="481" name="Google Shape;481;p38"/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8"/>
            <p:cNvSpPr/>
            <p:nvPr/>
          </p:nvSpPr>
          <p:spPr>
            <a:xfrm>
              <a:off x="8012575" y="345425"/>
              <a:ext cx="818100" cy="813900"/>
            </a:xfrm>
            <a:prstGeom prst="pie">
              <a:avLst>
                <a:gd name="adj1" fmla="val 16037467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3" name="Google Shape;483;p38"/>
          <p:cNvSpPr txBox="1">
            <a:spLocks noGrp="1"/>
          </p:cNvSpPr>
          <p:nvPr>
            <p:ph type="ctrTitle"/>
          </p:nvPr>
        </p:nvSpPr>
        <p:spPr>
          <a:xfrm>
            <a:off x="1969243" y="718342"/>
            <a:ext cx="4915500" cy="18029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International Applicant Rating</a:t>
            </a:r>
            <a:endParaRPr lang="en-US"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0"/>
              <a:t>ALGORITHM</a:t>
            </a:r>
            <a:endParaRPr sz="3600" b="0"/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816CE184-C442-BA1D-D176-EA71523EF1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51" r="-243" b="8887"/>
          <a:stretch>
            <a:fillRect/>
          </a:stretch>
        </p:blipFill>
        <p:spPr>
          <a:xfrm>
            <a:off x="2602706" y="2575138"/>
            <a:ext cx="3645701" cy="7984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2"/>
          <p:cNvGrpSpPr/>
          <p:nvPr/>
        </p:nvGrpSpPr>
        <p:grpSpPr>
          <a:xfrm flipH="1">
            <a:off x="5728737" y="0"/>
            <a:ext cx="3415264" cy="2172858"/>
            <a:chOff x="0" y="3"/>
            <a:chExt cx="4201850" cy="2673300"/>
          </a:xfrm>
        </p:grpSpPr>
        <p:cxnSp>
          <p:nvCxnSpPr>
            <p:cNvPr id="558" name="Google Shape;558;p42"/>
            <p:cNvCxnSpPr/>
            <p:nvPr/>
          </p:nvCxnSpPr>
          <p:spPr>
            <a:xfrm>
              <a:off x="0" y="5414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42"/>
            <p:cNvCxnSpPr/>
            <p:nvPr/>
          </p:nvCxnSpPr>
          <p:spPr>
            <a:xfrm>
              <a:off x="0" y="10760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42"/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42"/>
            <p:cNvCxnSpPr/>
            <p:nvPr/>
          </p:nvCxnSpPr>
          <p:spPr>
            <a:xfrm>
              <a:off x="5278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42"/>
            <p:cNvCxnSpPr/>
            <p:nvPr/>
          </p:nvCxnSpPr>
          <p:spPr>
            <a:xfrm>
              <a:off x="10556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42"/>
            <p:cNvCxnSpPr/>
            <p:nvPr/>
          </p:nvCxnSpPr>
          <p:spPr>
            <a:xfrm>
              <a:off x="15765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42"/>
            <p:cNvCxnSpPr/>
            <p:nvPr/>
          </p:nvCxnSpPr>
          <p:spPr>
            <a:xfrm>
              <a:off x="21043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42"/>
            <p:cNvCxnSpPr/>
            <p:nvPr/>
          </p:nvCxnSpPr>
          <p:spPr>
            <a:xfrm>
              <a:off x="26253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42"/>
            <p:cNvCxnSpPr/>
            <p:nvPr/>
          </p:nvCxnSpPr>
          <p:spPr>
            <a:xfrm>
              <a:off x="31531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42"/>
            <p:cNvCxnSpPr/>
            <p:nvPr/>
          </p:nvCxnSpPr>
          <p:spPr>
            <a:xfrm>
              <a:off x="36740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42"/>
            <p:cNvCxnSpPr/>
            <p:nvPr/>
          </p:nvCxnSpPr>
          <p:spPr>
            <a:xfrm>
              <a:off x="42018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42"/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2"/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1" name="Google Shape;571;p42"/>
          <p:cNvSpPr txBox="1">
            <a:spLocks noGrp="1"/>
          </p:cNvSpPr>
          <p:nvPr>
            <p:ph type="title"/>
          </p:nvPr>
        </p:nvSpPr>
        <p:spPr>
          <a:xfrm>
            <a:off x="1566900" y="423301"/>
            <a:ext cx="6010200" cy="10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572" name="Google Shape;572;p42"/>
          <p:cNvSpPr txBox="1">
            <a:spLocks noGrp="1"/>
          </p:cNvSpPr>
          <p:nvPr>
            <p:ph type="subTitle" idx="1"/>
          </p:nvPr>
        </p:nvSpPr>
        <p:spPr>
          <a:xfrm>
            <a:off x="1197652" y="1645699"/>
            <a:ext cx="6735235" cy="3195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Wingdings"/>
              <a:buChar char="§"/>
            </a:pPr>
            <a:r>
              <a:rPr lang="en"/>
              <a:t>AI-powered system for international student application analysis</a:t>
            </a:r>
            <a:endParaRPr lang="en-US"/>
          </a:p>
          <a:p>
            <a:pPr algn="l">
              <a:buFont typeface="Wingdings"/>
              <a:buChar char="§"/>
            </a:pPr>
            <a:endParaRPr lang="en"/>
          </a:p>
          <a:p>
            <a:pPr algn="l">
              <a:buFont typeface="Wingdings"/>
              <a:buChar char="§"/>
            </a:pPr>
            <a:r>
              <a:rPr lang="en"/>
              <a:t>Evaluates financial docs, transcripts, essays, and profiles</a:t>
            </a:r>
            <a:endParaRPr lang="en-US"/>
          </a:p>
          <a:p>
            <a:pPr algn="l">
              <a:buFont typeface="Wingdings"/>
              <a:buChar char="§"/>
            </a:pPr>
            <a:endParaRPr lang="en"/>
          </a:p>
          <a:p>
            <a:pPr algn="l">
              <a:buFont typeface="Wingdings"/>
              <a:buChar char="§"/>
            </a:pPr>
            <a:r>
              <a:rPr lang="en"/>
              <a:t>Calculates risk &amp; potential scores; highlights positive/negative factors</a:t>
            </a:r>
            <a:endParaRPr lang="en-US"/>
          </a:p>
          <a:p>
            <a:pPr algn="l">
              <a:buFont typeface="Wingdings"/>
              <a:buChar char="§"/>
            </a:pPr>
            <a:endParaRPr lang="en"/>
          </a:p>
          <a:p>
            <a:pPr algn="l">
              <a:buFont typeface="Wingdings"/>
              <a:buChar char="§"/>
            </a:pPr>
            <a:r>
              <a:rPr lang="en"/>
              <a:t>Supports batch processing and CSV/Excel exports</a:t>
            </a:r>
          </a:p>
          <a:p>
            <a:pPr algn="l">
              <a:buFont typeface="Wingdings"/>
              <a:buChar char="§"/>
            </a:pPr>
            <a:endParaRPr lang="en"/>
          </a:p>
          <a:p>
            <a:pPr algn="l">
              <a:buFont typeface="Wingdings"/>
              <a:buChar char="§"/>
            </a:pPr>
            <a:r>
              <a:rPr lang="en"/>
              <a:t>Built with Python, Flask, OpenCV, pdf2image, Tesseract OCR, OpenAI API, MongoDB</a:t>
            </a:r>
            <a:endParaRPr/>
          </a:p>
        </p:txBody>
      </p:sp>
      <p:grpSp>
        <p:nvGrpSpPr>
          <p:cNvPr id="573" name="Google Shape;573;p42"/>
          <p:cNvGrpSpPr/>
          <p:nvPr/>
        </p:nvGrpSpPr>
        <p:grpSpPr>
          <a:xfrm flipH="1">
            <a:off x="7226965" y="4193471"/>
            <a:ext cx="813900" cy="818100"/>
            <a:chOff x="8014675" y="343325"/>
            <a:chExt cx="813900" cy="818100"/>
          </a:xfrm>
        </p:grpSpPr>
        <p:sp>
          <p:nvSpPr>
            <p:cNvPr id="574" name="Google Shape;574;p42"/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2"/>
            <p:cNvSpPr/>
            <p:nvPr/>
          </p:nvSpPr>
          <p:spPr>
            <a:xfrm rot="-5400000">
              <a:off x="8012575" y="345425"/>
              <a:ext cx="818100" cy="8139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42"/>
          <p:cNvGrpSpPr/>
          <p:nvPr/>
        </p:nvGrpSpPr>
        <p:grpSpPr>
          <a:xfrm rot="-5400000">
            <a:off x="-251725" y="3299300"/>
            <a:ext cx="2278800" cy="330600"/>
            <a:chOff x="722375" y="4604000"/>
            <a:chExt cx="2278800" cy="330600"/>
          </a:xfrm>
        </p:grpSpPr>
        <p:sp>
          <p:nvSpPr>
            <p:cNvPr id="577" name="Google Shape;577;p42"/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2"/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2"/>
          <p:cNvSpPr/>
          <p:nvPr/>
        </p:nvSpPr>
        <p:spPr>
          <a:xfrm>
            <a:off x="8120213" y="251450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2"/>
          <p:cNvSpPr/>
          <p:nvPr/>
        </p:nvSpPr>
        <p:spPr>
          <a:xfrm rot="10800000">
            <a:off x="3079831" y="4367837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>
          <a:extLst>
            <a:ext uri="{FF2B5EF4-FFF2-40B4-BE49-F238E27FC236}">
              <a16:creationId xmlns:a16="http://schemas.microsoft.com/office/drawing/2014/main" id="{28DBB784-2209-738F-EC80-4F2765E73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2">
            <a:extLst>
              <a:ext uri="{FF2B5EF4-FFF2-40B4-BE49-F238E27FC236}">
                <a16:creationId xmlns:a16="http://schemas.microsoft.com/office/drawing/2014/main" id="{5CC78A35-DDA1-EA65-1827-E67765739302}"/>
              </a:ext>
            </a:extLst>
          </p:cNvPr>
          <p:cNvGrpSpPr/>
          <p:nvPr/>
        </p:nvGrpSpPr>
        <p:grpSpPr>
          <a:xfrm flipH="1">
            <a:off x="5728737" y="0"/>
            <a:ext cx="3415264" cy="2172858"/>
            <a:chOff x="0" y="3"/>
            <a:chExt cx="4201850" cy="2673300"/>
          </a:xfrm>
        </p:grpSpPr>
        <p:cxnSp>
          <p:nvCxnSpPr>
            <p:cNvPr id="558" name="Google Shape;558;p42">
              <a:extLst>
                <a:ext uri="{FF2B5EF4-FFF2-40B4-BE49-F238E27FC236}">
                  <a16:creationId xmlns:a16="http://schemas.microsoft.com/office/drawing/2014/main" id="{681BC731-C932-3529-0C6A-3CC86D821563}"/>
                </a:ext>
              </a:extLst>
            </p:cNvPr>
            <p:cNvCxnSpPr/>
            <p:nvPr/>
          </p:nvCxnSpPr>
          <p:spPr>
            <a:xfrm>
              <a:off x="0" y="5414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42">
              <a:extLst>
                <a:ext uri="{FF2B5EF4-FFF2-40B4-BE49-F238E27FC236}">
                  <a16:creationId xmlns:a16="http://schemas.microsoft.com/office/drawing/2014/main" id="{08E7245E-6E61-4AA8-B84F-6F6A0C8D0624}"/>
                </a:ext>
              </a:extLst>
            </p:cNvPr>
            <p:cNvCxnSpPr/>
            <p:nvPr/>
          </p:nvCxnSpPr>
          <p:spPr>
            <a:xfrm>
              <a:off x="0" y="10760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42">
              <a:extLst>
                <a:ext uri="{FF2B5EF4-FFF2-40B4-BE49-F238E27FC236}">
                  <a16:creationId xmlns:a16="http://schemas.microsoft.com/office/drawing/2014/main" id="{C6462210-9D5C-0801-4525-C02F0A840062}"/>
                </a:ext>
              </a:extLst>
            </p:cNvPr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42">
              <a:extLst>
                <a:ext uri="{FF2B5EF4-FFF2-40B4-BE49-F238E27FC236}">
                  <a16:creationId xmlns:a16="http://schemas.microsoft.com/office/drawing/2014/main" id="{86284115-83FE-C676-D34F-3EAF99548306}"/>
                </a:ext>
              </a:extLst>
            </p:cNvPr>
            <p:cNvCxnSpPr/>
            <p:nvPr/>
          </p:nvCxnSpPr>
          <p:spPr>
            <a:xfrm>
              <a:off x="5278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42">
              <a:extLst>
                <a:ext uri="{FF2B5EF4-FFF2-40B4-BE49-F238E27FC236}">
                  <a16:creationId xmlns:a16="http://schemas.microsoft.com/office/drawing/2014/main" id="{48F27F5A-3DE7-64CE-A665-DBA6E1B7F909}"/>
                </a:ext>
              </a:extLst>
            </p:cNvPr>
            <p:cNvCxnSpPr/>
            <p:nvPr/>
          </p:nvCxnSpPr>
          <p:spPr>
            <a:xfrm>
              <a:off x="10556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42">
              <a:extLst>
                <a:ext uri="{FF2B5EF4-FFF2-40B4-BE49-F238E27FC236}">
                  <a16:creationId xmlns:a16="http://schemas.microsoft.com/office/drawing/2014/main" id="{6B56DA39-DDF3-7FC8-1684-8EFB63303ACA}"/>
                </a:ext>
              </a:extLst>
            </p:cNvPr>
            <p:cNvCxnSpPr/>
            <p:nvPr/>
          </p:nvCxnSpPr>
          <p:spPr>
            <a:xfrm>
              <a:off x="15765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42">
              <a:extLst>
                <a:ext uri="{FF2B5EF4-FFF2-40B4-BE49-F238E27FC236}">
                  <a16:creationId xmlns:a16="http://schemas.microsoft.com/office/drawing/2014/main" id="{51D3DC39-54DD-9313-79E2-461259FE6E42}"/>
                </a:ext>
              </a:extLst>
            </p:cNvPr>
            <p:cNvCxnSpPr/>
            <p:nvPr/>
          </p:nvCxnSpPr>
          <p:spPr>
            <a:xfrm>
              <a:off x="21043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42">
              <a:extLst>
                <a:ext uri="{FF2B5EF4-FFF2-40B4-BE49-F238E27FC236}">
                  <a16:creationId xmlns:a16="http://schemas.microsoft.com/office/drawing/2014/main" id="{FF7C068F-93E9-F442-9847-29302D7916F5}"/>
                </a:ext>
              </a:extLst>
            </p:cNvPr>
            <p:cNvCxnSpPr/>
            <p:nvPr/>
          </p:nvCxnSpPr>
          <p:spPr>
            <a:xfrm>
              <a:off x="26253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42">
              <a:extLst>
                <a:ext uri="{FF2B5EF4-FFF2-40B4-BE49-F238E27FC236}">
                  <a16:creationId xmlns:a16="http://schemas.microsoft.com/office/drawing/2014/main" id="{C8B99EAB-F2CF-4CE8-8D6C-EE1532EB03A0}"/>
                </a:ext>
              </a:extLst>
            </p:cNvPr>
            <p:cNvCxnSpPr/>
            <p:nvPr/>
          </p:nvCxnSpPr>
          <p:spPr>
            <a:xfrm>
              <a:off x="31531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42">
              <a:extLst>
                <a:ext uri="{FF2B5EF4-FFF2-40B4-BE49-F238E27FC236}">
                  <a16:creationId xmlns:a16="http://schemas.microsoft.com/office/drawing/2014/main" id="{4A4D437D-ACAD-1B10-4156-08E7C512D459}"/>
                </a:ext>
              </a:extLst>
            </p:cNvPr>
            <p:cNvCxnSpPr/>
            <p:nvPr/>
          </p:nvCxnSpPr>
          <p:spPr>
            <a:xfrm>
              <a:off x="36740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42">
              <a:extLst>
                <a:ext uri="{FF2B5EF4-FFF2-40B4-BE49-F238E27FC236}">
                  <a16:creationId xmlns:a16="http://schemas.microsoft.com/office/drawing/2014/main" id="{1F3A3918-D58D-E704-375E-68C0CA762F64}"/>
                </a:ext>
              </a:extLst>
            </p:cNvPr>
            <p:cNvCxnSpPr/>
            <p:nvPr/>
          </p:nvCxnSpPr>
          <p:spPr>
            <a:xfrm>
              <a:off x="42018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42">
              <a:extLst>
                <a:ext uri="{FF2B5EF4-FFF2-40B4-BE49-F238E27FC236}">
                  <a16:creationId xmlns:a16="http://schemas.microsoft.com/office/drawing/2014/main" id="{A6AFD359-9357-8D34-9601-3EF2D606195B}"/>
                </a:ext>
              </a:extLst>
            </p:cNvPr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2">
              <a:extLst>
                <a:ext uri="{FF2B5EF4-FFF2-40B4-BE49-F238E27FC236}">
                  <a16:creationId xmlns:a16="http://schemas.microsoft.com/office/drawing/2014/main" id="{508FE299-E69F-75CB-40A9-255B4CC17FAB}"/>
                </a:ext>
              </a:extLst>
            </p:cNvPr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1" name="Google Shape;571;p42">
            <a:extLst>
              <a:ext uri="{FF2B5EF4-FFF2-40B4-BE49-F238E27FC236}">
                <a16:creationId xmlns:a16="http://schemas.microsoft.com/office/drawing/2014/main" id="{8C8ABB4D-EF8E-0A82-820B-9F14D88135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6900" y="416051"/>
            <a:ext cx="6010200" cy="10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</a:t>
            </a:r>
            <a:endParaRPr/>
          </a:p>
        </p:txBody>
      </p:sp>
      <p:sp>
        <p:nvSpPr>
          <p:cNvPr id="572" name="Google Shape;572;p42">
            <a:extLst>
              <a:ext uri="{FF2B5EF4-FFF2-40B4-BE49-F238E27FC236}">
                <a16:creationId xmlns:a16="http://schemas.microsoft.com/office/drawing/2014/main" id="{D53F2509-1420-3B7A-D67F-E5016EE997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31451" y="1700201"/>
            <a:ext cx="6345956" cy="26514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1"/>
              <a:t> Student Data Input</a:t>
            </a:r>
            <a:r>
              <a:rPr lang="en-US"/>
              <a:t>: Capture applicant information with field validation</a:t>
            </a:r>
          </a:p>
          <a:p>
            <a:endParaRPr lang="en-US"/>
          </a:p>
          <a:p>
            <a:pPr algn="l"/>
            <a:r>
              <a:rPr lang="en-US" b="1"/>
              <a:t> Essay Analysis</a:t>
            </a:r>
            <a:r>
              <a:rPr lang="en-US"/>
              <a:t>: AI-powered scoring with fallback for accuracy</a:t>
            </a:r>
          </a:p>
          <a:p>
            <a:endParaRPr lang="en-US"/>
          </a:p>
          <a:p>
            <a:r>
              <a:rPr lang="en-US" b="1"/>
              <a:t>Scoring Engine</a:t>
            </a:r>
            <a:r>
              <a:rPr lang="en-US"/>
              <a:t>: Compute positive, negative, overall composite scores</a:t>
            </a:r>
          </a:p>
          <a:p>
            <a:endParaRPr lang="en-US"/>
          </a:p>
          <a:p>
            <a:r>
              <a:rPr lang="en-US" b="1"/>
              <a:t>Financial Risk Assessment</a:t>
            </a:r>
            <a:r>
              <a:rPr lang="en-US"/>
              <a:t>: Detect payment issues and financial risks</a:t>
            </a:r>
          </a:p>
          <a:p>
            <a:endParaRPr lang="en-US"/>
          </a:p>
          <a:p>
            <a:r>
              <a:rPr lang="en-US" b="1"/>
              <a:t>Fraud &amp; Anomaly Detection</a:t>
            </a:r>
            <a:r>
              <a:rPr lang="en-US"/>
              <a:t>: Identify suspicious or unusual documents</a:t>
            </a:r>
          </a:p>
          <a:p>
            <a:endParaRPr lang="en-US"/>
          </a:p>
          <a:p>
            <a:r>
              <a:rPr lang="en-US" b="1"/>
              <a:t>Results Presentation</a:t>
            </a:r>
            <a:r>
              <a:rPr lang="en-US"/>
              <a:t>: Display clear academic, financial, and behavioral score breakdowns</a:t>
            </a:r>
            <a:endParaRPr/>
          </a:p>
        </p:txBody>
      </p:sp>
      <p:grpSp>
        <p:nvGrpSpPr>
          <p:cNvPr id="573" name="Google Shape;573;p42">
            <a:extLst>
              <a:ext uri="{FF2B5EF4-FFF2-40B4-BE49-F238E27FC236}">
                <a16:creationId xmlns:a16="http://schemas.microsoft.com/office/drawing/2014/main" id="{8BA73D6F-5CF4-7AB6-E877-367A00014BFE}"/>
              </a:ext>
            </a:extLst>
          </p:cNvPr>
          <p:cNvGrpSpPr/>
          <p:nvPr/>
        </p:nvGrpSpPr>
        <p:grpSpPr>
          <a:xfrm flipH="1">
            <a:off x="7372719" y="4023300"/>
            <a:ext cx="813900" cy="818100"/>
            <a:chOff x="8014675" y="343325"/>
            <a:chExt cx="813900" cy="818100"/>
          </a:xfrm>
        </p:grpSpPr>
        <p:sp>
          <p:nvSpPr>
            <p:cNvPr id="574" name="Google Shape;574;p42">
              <a:extLst>
                <a:ext uri="{FF2B5EF4-FFF2-40B4-BE49-F238E27FC236}">
                  <a16:creationId xmlns:a16="http://schemas.microsoft.com/office/drawing/2014/main" id="{E1C8F40F-3EEF-373E-0A36-B65243D214C6}"/>
                </a:ext>
              </a:extLst>
            </p:cNvPr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2">
              <a:extLst>
                <a:ext uri="{FF2B5EF4-FFF2-40B4-BE49-F238E27FC236}">
                  <a16:creationId xmlns:a16="http://schemas.microsoft.com/office/drawing/2014/main" id="{8C9BA302-2E96-6CEC-09AC-C179CF17C065}"/>
                </a:ext>
              </a:extLst>
            </p:cNvPr>
            <p:cNvSpPr/>
            <p:nvPr/>
          </p:nvSpPr>
          <p:spPr>
            <a:xfrm rot="-5400000">
              <a:off x="8012575" y="345425"/>
              <a:ext cx="818100" cy="8139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42">
            <a:extLst>
              <a:ext uri="{FF2B5EF4-FFF2-40B4-BE49-F238E27FC236}">
                <a16:creationId xmlns:a16="http://schemas.microsoft.com/office/drawing/2014/main" id="{B7BE4E39-C9C3-5D24-9726-38473D873890}"/>
              </a:ext>
            </a:extLst>
          </p:cNvPr>
          <p:cNvGrpSpPr/>
          <p:nvPr/>
        </p:nvGrpSpPr>
        <p:grpSpPr>
          <a:xfrm rot="-5400000">
            <a:off x="-251725" y="3299300"/>
            <a:ext cx="2278800" cy="330600"/>
            <a:chOff x="722375" y="4604000"/>
            <a:chExt cx="2278800" cy="330600"/>
          </a:xfrm>
        </p:grpSpPr>
        <p:sp>
          <p:nvSpPr>
            <p:cNvPr id="577" name="Google Shape;577;p42">
              <a:extLst>
                <a:ext uri="{FF2B5EF4-FFF2-40B4-BE49-F238E27FC236}">
                  <a16:creationId xmlns:a16="http://schemas.microsoft.com/office/drawing/2014/main" id="{5CC11AC1-6A6B-A406-C27A-8CFDA6AA0748}"/>
                </a:ext>
              </a:extLst>
            </p:cNvPr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2">
              <a:extLst>
                <a:ext uri="{FF2B5EF4-FFF2-40B4-BE49-F238E27FC236}">
                  <a16:creationId xmlns:a16="http://schemas.microsoft.com/office/drawing/2014/main" id="{CE25A873-8699-DDBD-310C-018DBCE3396F}"/>
                </a:ext>
              </a:extLst>
            </p:cNvPr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2">
            <a:extLst>
              <a:ext uri="{FF2B5EF4-FFF2-40B4-BE49-F238E27FC236}">
                <a16:creationId xmlns:a16="http://schemas.microsoft.com/office/drawing/2014/main" id="{ED5BB2BD-B43A-852B-3A3F-0E2D1EB691A4}"/>
              </a:ext>
            </a:extLst>
          </p:cNvPr>
          <p:cNvSpPr/>
          <p:nvPr/>
        </p:nvSpPr>
        <p:spPr>
          <a:xfrm>
            <a:off x="8120213" y="251450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2">
            <a:extLst>
              <a:ext uri="{FF2B5EF4-FFF2-40B4-BE49-F238E27FC236}">
                <a16:creationId xmlns:a16="http://schemas.microsoft.com/office/drawing/2014/main" id="{54A2A174-93E2-8524-DAA1-4B6788EF9887}"/>
              </a:ext>
            </a:extLst>
          </p:cNvPr>
          <p:cNvSpPr/>
          <p:nvPr/>
        </p:nvSpPr>
        <p:spPr>
          <a:xfrm rot="10800000">
            <a:off x="2013600" y="4308128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056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>
          <a:extLst>
            <a:ext uri="{FF2B5EF4-FFF2-40B4-BE49-F238E27FC236}">
              <a16:creationId xmlns:a16="http://schemas.microsoft.com/office/drawing/2014/main" id="{AB16B63C-9450-84F9-A57F-97EC30F0B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2">
            <a:extLst>
              <a:ext uri="{FF2B5EF4-FFF2-40B4-BE49-F238E27FC236}">
                <a16:creationId xmlns:a16="http://schemas.microsoft.com/office/drawing/2014/main" id="{14FC024B-4209-509E-25D2-EC7388071CB5}"/>
              </a:ext>
            </a:extLst>
          </p:cNvPr>
          <p:cNvGrpSpPr/>
          <p:nvPr/>
        </p:nvGrpSpPr>
        <p:grpSpPr>
          <a:xfrm flipH="1">
            <a:off x="5728737" y="0"/>
            <a:ext cx="3415264" cy="2172858"/>
            <a:chOff x="0" y="3"/>
            <a:chExt cx="4201850" cy="2673300"/>
          </a:xfrm>
        </p:grpSpPr>
        <p:cxnSp>
          <p:nvCxnSpPr>
            <p:cNvPr id="558" name="Google Shape;558;p42">
              <a:extLst>
                <a:ext uri="{FF2B5EF4-FFF2-40B4-BE49-F238E27FC236}">
                  <a16:creationId xmlns:a16="http://schemas.microsoft.com/office/drawing/2014/main" id="{810083FA-6072-DC96-31D1-DD1A134B6B1F}"/>
                </a:ext>
              </a:extLst>
            </p:cNvPr>
            <p:cNvCxnSpPr/>
            <p:nvPr/>
          </p:nvCxnSpPr>
          <p:spPr>
            <a:xfrm>
              <a:off x="0" y="5414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42">
              <a:extLst>
                <a:ext uri="{FF2B5EF4-FFF2-40B4-BE49-F238E27FC236}">
                  <a16:creationId xmlns:a16="http://schemas.microsoft.com/office/drawing/2014/main" id="{652E3705-D27F-90D6-2058-74D02FF2DBBB}"/>
                </a:ext>
              </a:extLst>
            </p:cNvPr>
            <p:cNvCxnSpPr/>
            <p:nvPr/>
          </p:nvCxnSpPr>
          <p:spPr>
            <a:xfrm>
              <a:off x="0" y="10760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42">
              <a:extLst>
                <a:ext uri="{FF2B5EF4-FFF2-40B4-BE49-F238E27FC236}">
                  <a16:creationId xmlns:a16="http://schemas.microsoft.com/office/drawing/2014/main" id="{0E9B3A64-D7B3-7ED2-434B-8A1EC86C3DA5}"/>
                </a:ext>
              </a:extLst>
            </p:cNvPr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42">
              <a:extLst>
                <a:ext uri="{FF2B5EF4-FFF2-40B4-BE49-F238E27FC236}">
                  <a16:creationId xmlns:a16="http://schemas.microsoft.com/office/drawing/2014/main" id="{C03DC373-3FF4-7174-6D22-980A3F8A83DB}"/>
                </a:ext>
              </a:extLst>
            </p:cNvPr>
            <p:cNvCxnSpPr/>
            <p:nvPr/>
          </p:nvCxnSpPr>
          <p:spPr>
            <a:xfrm>
              <a:off x="5278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42">
              <a:extLst>
                <a:ext uri="{FF2B5EF4-FFF2-40B4-BE49-F238E27FC236}">
                  <a16:creationId xmlns:a16="http://schemas.microsoft.com/office/drawing/2014/main" id="{4E32A793-D625-6059-BAF5-C12AF16DD15E}"/>
                </a:ext>
              </a:extLst>
            </p:cNvPr>
            <p:cNvCxnSpPr/>
            <p:nvPr/>
          </p:nvCxnSpPr>
          <p:spPr>
            <a:xfrm>
              <a:off x="10556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42">
              <a:extLst>
                <a:ext uri="{FF2B5EF4-FFF2-40B4-BE49-F238E27FC236}">
                  <a16:creationId xmlns:a16="http://schemas.microsoft.com/office/drawing/2014/main" id="{E55FA642-3306-C48F-0A81-97E0F7475979}"/>
                </a:ext>
              </a:extLst>
            </p:cNvPr>
            <p:cNvCxnSpPr/>
            <p:nvPr/>
          </p:nvCxnSpPr>
          <p:spPr>
            <a:xfrm>
              <a:off x="15765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42">
              <a:extLst>
                <a:ext uri="{FF2B5EF4-FFF2-40B4-BE49-F238E27FC236}">
                  <a16:creationId xmlns:a16="http://schemas.microsoft.com/office/drawing/2014/main" id="{ADB2DB3D-4D38-02D8-D97F-FFBB22A296C1}"/>
                </a:ext>
              </a:extLst>
            </p:cNvPr>
            <p:cNvCxnSpPr/>
            <p:nvPr/>
          </p:nvCxnSpPr>
          <p:spPr>
            <a:xfrm>
              <a:off x="21043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42">
              <a:extLst>
                <a:ext uri="{FF2B5EF4-FFF2-40B4-BE49-F238E27FC236}">
                  <a16:creationId xmlns:a16="http://schemas.microsoft.com/office/drawing/2014/main" id="{45DAF57D-AC54-8398-33B2-690B675F1FF3}"/>
                </a:ext>
              </a:extLst>
            </p:cNvPr>
            <p:cNvCxnSpPr/>
            <p:nvPr/>
          </p:nvCxnSpPr>
          <p:spPr>
            <a:xfrm>
              <a:off x="26253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42">
              <a:extLst>
                <a:ext uri="{FF2B5EF4-FFF2-40B4-BE49-F238E27FC236}">
                  <a16:creationId xmlns:a16="http://schemas.microsoft.com/office/drawing/2014/main" id="{B06C80CF-42DA-17D0-6DB9-B5F79D64C9D5}"/>
                </a:ext>
              </a:extLst>
            </p:cNvPr>
            <p:cNvCxnSpPr/>
            <p:nvPr/>
          </p:nvCxnSpPr>
          <p:spPr>
            <a:xfrm>
              <a:off x="31531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42">
              <a:extLst>
                <a:ext uri="{FF2B5EF4-FFF2-40B4-BE49-F238E27FC236}">
                  <a16:creationId xmlns:a16="http://schemas.microsoft.com/office/drawing/2014/main" id="{F7E7593A-DDC5-F671-EF27-8A0D48718727}"/>
                </a:ext>
              </a:extLst>
            </p:cNvPr>
            <p:cNvCxnSpPr/>
            <p:nvPr/>
          </p:nvCxnSpPr>
          <p:spPr>
            <a:xfrm>
              <a:off x="36740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42">
              <a:extLst>
                <a:ext uri="{FF2B5EF4-FFF2-40B4-BE49-F238E27FC236}">
                  <a16:creationId xmlns:a16="http://schemas.microsoft.com/office/drawing/2014/main" id="{FB7224DF-1426-1418-ACC5-BCE903589B6C}"/>
                </a:ext>
              </a:extLst>
            </p:cNvPr>
            <p:cNvCxnSpPr/>
            <p:nvPr/>
          </p:nvCxnSpPr>
          <p:spPr>
            <a:xfrm>
              <a:off x="42018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42">
              <a:extLst>
                <a:ext uri="{FF2B5EF4-FFF2-40B4-BE49-F238E27FC236}">
                  <a16:creationId xmlns:a16="http://schemas.microsoft.com/office/drawing/2014/main" id="{578A2CD9-8588-2AAD-66E4-F7514B744B7B}"/>
                </a:ext>
              </a:extLst>
            </p:cNvPr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2">
              <a:extLst>
                <a:ext uri="{FF2B5EF4-FFF2-40B4-BE49-F238E27FC236}">
                  <a16:creationId xmlns:a16="http://schemas.microsoft.com/office/drawing/2014/main" id="{E5FC5132-D272-9DE9-75E0-24B1B92ED617}"/>
                </a:ext>
              </a:extLst>
            </p:cNvPr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1" name="Google Shape;571;p42">
            <a:extLst>
              <a:ext uri="{FF2B5EF4-FFF2-40B4-BE49-F238E27FC236}">
                <a16:creationId xmlns:a16="http://schemas.microsoft.com/office/drawing/2014/main" id="{CB68990D-F7FB-D4A5-CA32-F96A07CD9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6900" y="408907"/>
            <a:ext cx="6010200" cy="10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Non-Functional Requirements</a:t>
            </a:r>
            <a:endParaRPr/>
          </a:p>
        </p:txBody>
      </p:sp>
      <p:sp>
        <p:nvSpPr>
          <p:cNvPr id="572" name="Google Shape;572;p42">
            <a:extLst>
              <a:ext uri="{FF2B5EF4-FFF2-40B4-BE49-F238E27FC236}">
                <a16:creationId xmlns:a16="http://schemas.microsoft.com/office/drawing/2014/main" id="{8C990874-22F5-5757-111E-78572734A9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67207" y="1764496"/>
            <a:ext cx="6010200" cy="20944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1"/>
              <a:t>Scalability</a:t>
            </a:r>
            <a:r>
              <a:rPr lang="en-US"/>
              <a:t>: Handle multiple users and batch scoring</a:t>
            </a:r>
          </a:p>
          <a:p>
            <a:pPr algn="l"/>
            <a:endParaRPr lang="en-US"/>
          </a:p>
          <a:p>
            <a:pPr algn="l"/>
            <a:r>
              <a:rPr lang="en-US" b="1"/>
              <a:t>Accuracy</a:t>
            </a:r>
            <a:r>
              <a:rPr lang="en-US"/>
              <a:t>: Match data and flag inconsistencies</a:t>
            </a:r>
          </a:p>
          <a:p>
            <a:pPr algn="l"/>
            <a:endParaRPr lang="en-US"/>
          </a:p>
          <a:p>
            <a:pPr algn="l"/>
            <a:r>
              <a:rPr lang="en-US" b="1"/>
              <a:t>Security</a:t>
            </a:r>
            <a:r>
              <a:rPr lang="en-US"/>
              <a:t>: WSU keys and role-based access control</a:t>
            </a:r>
          </a:p>
          <a:p>
            <a:pPr algn="l"/>
            <a:endParaRPr lang="en-US"/>
          </a:p>
          <a:p>
            <a:pPr algn="l"/>
            <a:r>
              <a:rPr lang="en-US" b="1"/>
              <a:t>Performance</a:t>
            </a:r>
            <a:r>
              <a:rPr lang="en-US"/>
              <a:t>: Fast batch scoring with AI fallback</a:t>
            </a:r>
          </a:p>
          <a:p>
            <a:pPr algn="l"/>
            <a:endParaRPr lang="en-US"/>
          </a:p>
          <a:p>
            <a:pPr algn="l"/>
            <a:r>
              <a:rPr lang="en-US" b="1"/>
              <a:t>Compliance</a:t>
            </a:r>
            <a:r>
              <a:rPr lang="en-US"/>
              <a:t>: Logging, audit trails, and controlled data access</a:t>
            </a:r>
          </a:p>
          <a:p>
            <a:pPr algn="l"/>
            <a:endParaRPr lang="en-US" b="1"/>
          </a:p>
          <a:p>
            <a:pPr algn="l"/>
            <a:r>
              <a:rPr lang="en-US" b="1"/>
              <a:t>Reliability</a:t>
            </a:r>
            <a:r>
              <a:rPr lang="en-US"/>
              <a:t>: 99% uptime and traceable fraud/anomaly flags</a:t>
            </a:r>
          </a:p>
          <a:p>
            <a:pPr marL="0" lvl="0" indent="0" algn="l"/>
            <a:endParaRPr lang="en-US"/>
          </a:p>
          <a:p>
            <a:pPr marL="0" lvl="0" indent="0" algn="l"/>
            <a:endParaRPr/>
          </a:p>
        </p:txBody>
      </p:sp>
      <p:grpSp>
        <p:nvGrpSpPr>
          <p:cNvPr id="573" name="Google Shape;573;p42">
            <a:extLst>
              <a:ext uri="{FF2B5EF4-FFF2-40B4-BE49-F238E27FC236}">
                <a16:creationId xmlns:a16="http://schemas.microsoft.com/office/drawing/2014/main" id="{61EBF611-B0C6-A9CB-A85A-9E48E8AA9C80}"/>
              </a:ext>
            </a:extLst>
          </p:cNvPr>
          <p:cNvGrpSpPr/>
          <p:nvPr/>
        </p:nvGrpSpPr>
        <p:grpSpPr>
          <a:xfrm flipH="1">
            <a:off x="6958381" y="3937574"/>
            <a:ext cx="813900" cy="818100"/>
            <a:chOff x="8014675" y="343325"/>
            <a:chExt cx="813900" cy="818100"/>
          </a:xfrm>
        </p:grpSpPr>
        <p:sp>
          <p:nvSpPr>
            <p:cNvPr id="574" name="Google Shape;574;p42">
              <a:extLst>
                <a:ext uri="{FF2B5EF4-FFF2-40B4-BE49-F238E27FC236}">
                  <a16:creationId xmlns:a16="http://schemas.microsoft.com/office/drawing/2014/main" id="{7D40392C-383F-3F49-B7E8-3F29729C87BE}"/>
                </a:ext>
              </a:extLst>
            </p:cNvPr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2">
              <a:extLst>
                <a:ext uri="{FF2B5EF4-FFF2-40B4-BE49-F238E27FC236}">
                  <a16:creationId xmlns:a16="http://schemas.microsoft.com/office/drawing/2014/main" id="{FDF355E7-8B99-25EC-6542-8E3F0DE80C11}"/>
                </a:ext>
              </a:extLst>
            </p:cNvPr>
            <p:cNvSpPr/>
            <p:nvPr/>
          </p:nvSpPr>
          <p:spPr>
            <a:xfrm rot="-5400000">
              <a:off x="8012575" y="345425"/>
              <a:ext cx="818100" cy="8139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42">
            <a:extLst>
              <a:ext uri="{FF2B5EF4-FFF2-40B4-BE49-F238E27FC236}">
                <a16:creationId xmlns:a16="http://schemas.microsoft.com/office/drawing/2014/main" id="{7EAEF26B-BBA8-AA9A-0795-45C0C12337D1}"/>
              </a:ext>
            </a:extLst>
          </p:cNvPr>
          <p:cNvGrpSpPr/>
          <p:nvPr/>
        </p:nvGrpSpPr>
        <p:grpSpPr>
          <a:xfrm rot="-5400000">
            <a:off x="-251725" y="3299300"/>
            <a:ext cx="2278800" cy="330600"/>
            <a:chOff x="722375" y="4604000"/>
            <a:chExt cx="2278800" cy="330600"/>
          </a:xfrm>
        </p:grpSpPr>
        <p:sp>
          <p:nvSpPr>
            <p:cNvPr id="577" name="Google Shape;577;p42">
              <a:extLst>
                <a:ext uri="{FF2B5EF4-FFF2-40B4-BE49-F238E27FC236}">
                  <a16:creationId xmlns:a16="http://schemas.microsoft.com/office/drawing/2014/main" id="{FC30F2B1-B9D6-B40D-C520-1ED35599755A}"/>
                </a:ext>
              </a:extLst>
            </p:cNvPr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2">
              <a:extLst>
                <a:ext uri="{FF2B5EF4-FFF2-40B4-BE49-F238E27FC236}">
                  <a16:creationId xmlns:a16="http://schemas.microsoft.com/office/drawing/2014/main" id="{16BE2994-04CE-D814-BC26-9433679A3779}"/>
                </a:ext>
              </a:extLst>
            </p:cNvPr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2">
            <a:extLst>
              <a:ext uri="{FF2B5EF4-FFF2-40B4-BE49-F238E27FC236}">
                <a16:creationId xmlns:a16="http://schemas.microsoft.com/office/drawing/2014/main" id="{B89BF573-1E14-1691-7C98-40121E405A8B}"/>
              </a:ext>
            </a:extLst>
          </p:cNvPr>
          <p:cNvSpPr/>
          <p:nvPr/>
        </p:nvSpPr>
        <p:spPr>
          <a:xfrm>
            <a:off x="8120213" y="251450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2">
            <a:extLst>
              <a:ext uri="{FF2B5EF4-FFF2-40B4-BE49-F238E27FC236}">
                <a16:creationId xmlns:a16="http://schemas.microsoft.com/office/drawing/2014/main" id="{7866AF00-60E4-B7BD-E800-24DC32011859}"/>
              </a:ext>
            </a:extLst>
          </p:cNvPr>
          <p:cNvSpPr/>
          <p:nvPr/>
        </p:nvSpPr>
        <p:spPr>
          <a:xfrm rot="10800000">
            <a:off x="2013600" y="4422428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0366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>
          <a:extLst>
            <a:ext uri="{FF2B5EF4-FFF2-40B4-BE49-F238E27FC236}">
              <a16:creationId xmlns:a16="http://schemas.microsoft.com/office/drawing/2014/main" id="{76F85392-2F95-89F3-461E-F26477D1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2">
            <a:extLst>
              <a:ext uri="{FF2B5EF4-FFF2-40B4-BE49-F238E27FC236}">
                <a16:creationId xmlns:a16="http://schemas.microsoft.com/office/drawing/2014/main" id="{C72B4092-0EDE-20BA-9FEE-0EB8C7DDDBDA}"/>
              </a:ext>
            </a:extLst>
          </p:cNvPr>
          <p:cNvGrpSpPr/>
          <p:nvPr/>
        </p:nvGrpSpPr>
        <p:grpSpPr>
          <a:xfrm flipH="1">
            <a:off x="5728737" y="0"/>
            <a:ext cx="3415264" cy="2172858"/>
            <a:chOff x="0" y="3"/>
            <a:chExt cx="4201850" cy="2673300"/>
          </a:xfrm>
        </p:grpSpPr>
        <p:cxnSp>
          <p:nvCxnSpPr>
            <p:cNvPr id="558" name="Google Shape;558;p42">
              <a:extLst>
                <a:ext uri="{FF2B5EF4-FFF2-40B4-BE49-F238E27FC236}">
                  <a16:creationId xmlns:a16="http://schemas.microsoft.com/office/drawing/2014/main" id="{1B7BE3EE-BB09-31ED-0C31-D5BF5A785714}"/>
                </a:ext>
              </a:extLst>
            </p:cNvPr>
            <p:cNvCxnSpPr/>
            <p:nvPr/>
          </p:nvCxnSpPr>
          <p:spPr>
            <a:xfrm>
              <a:off x="0" y="5414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42">
              <a:extLst>
                <a:ext uri="{FF2B5EF4-FFF2-40B4-BE49-F238E27FC236}">
                  <a16:creationId xmlns:a16="http://schemas.microsoft.com/office/drawing/2014/main" id="{2B980EB0-03CD-D0CD-2B1F-5418674C9723}"/>
                </a:ext>
              </a:extLst>
            </p:cNvPr>
            <p:cNvCxnSpPr/>
            <p:nvPr/>
          </p:nvCxnSpPr>
          <p:spPr>
            <a:xfrm>
              <a:off x="0" y="10760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42">
              <a:extLst>
                <a:ext uri="{FF2B5EF4-FFF2-40B4-BE49-F238E27FC236}">
                  <a16:creationId xmlns:a16="http://schemas.microsoft.com/office/drawing/2014/main" id="{DA6C379F-58C7-9114-97E7-900BAE9828B8}"/>
                </a:ext>
              </a:extLst>
            </p:cNvPr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42">
              <a:extLst>
                <a:ext uri="{FF2B5EF4-FFF2-40B4-BE49-F238E27FC236}">
                  <a16:creationId xmlns:a16="http://schemas.microsoft.com/office/drawing/2014/main" id="{AC4AB234-D4B4-F991-5493-10165DCB8015}"/>
                </a:ext>
              </a:extLst>
            </p:cNvPr>
            <p:cNvCxnSpPr/>
            <p:nvPr/>
          </p:nvCxnSpPr>
          <p:spPr>
            <a:xfrm>
              <a:off x="5278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42">
              <a:extLst>
                <a:ext uri="{FF2B5EF4-FFF2-40B4-BE49-F238E27FC236}">
                  <a16:creationId xmlns:a16="http://schemas.microsoft.com/office/drawing/2014/main" id="{8C2E1D42-A787-B12A-EAAA-E07F9EAF81FF}"/>
                </a:ext>
              </a:extLst>
            </p:cNvPr>
            <p:cNvCxnSpPr/>
            <p:nvPr/>
          </p:nvCxnSpPr>
          <p:spPr>
            <a:xfrm>
              <a:off x="10556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42">
              <a:extLst>
                <a:ext uri="{FF2B5EF4-FFF2-40B4-BE49-F238E27FC236}">
                  <a16:creationId xmlns:a16="http://schemas.microsoft.com/office/drawing/2014/main" id="{2721E594-D4EA-C7E5-0803-8CA184B65B2B}"/>
                </a:ext>
              </a:extLst>
            </p:cNvPr>
            <p:cNvCxnSpPr/>
            <p:nvPr/>
          </p:nvCxnSpPr>
          <p:spPr>
            <a:xfrm>
              <a:off x="15765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42">
              <a:extLst>
                <a:ext uri="{FF2B5EF4-FFF2-40B4-BE49-F238E27FC236}">
                  <a16:creationId xmlns:a16="http://schemas.microsoft.com/office/drawing/2014/main" id="{AFB942BE-85A9-FB7E-C6A0-A32D369ADF67}"/>
                </a:ext>
              </a:extLst>
            </p:cNvPr>
            <p:cNvCxnSpPr/>
            <p:nvPr/>
          </p:nvCxnSpPr>
          <p:spPr>
            <a:xfrm>
              <a:off x="21043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42">
              <a:extLst>
                <a:ext uri="{FF2B5EF4-FFF2-40B4-BE49-F238E27FC236}">
                  <a16:creationId xmlns:a16="http://schemas.microsoft.com/office/drawing/2014/main" id="{130B4472-86B6-9D55-5F04-33E9BC7CDE18}"/>
                </a:ext>
              </a:extLst>
            </p:cNvPr>
            <p:cNvCxnSpPr/>
            <p:nvPr/>
          </p:nvCxnSpPr>
          <p:spPr>
            <a:xfrm>
              <a:off x="26253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42">
              <a:extLst>
                <a:ext uri="{FF2B5EF4-FFF2-40B4-BE49-F238E27FC236}">
                  <a16:creationId xmlns:a16="http://schemas.microsoft.com/office/drawing/2014/main" id="{17D363A1-B478-8D71-2A85-14E9E242AB40}"/>
                </a:ext>
              </a:extLst>
            </p:cNvPr>
            <p:cNvCxnSpPr/>
            <p:nvPr/>
          </p:nvCxnSpPr>
          <p:spPr>
            <a:xfrm>
              <a:off x="31531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42">
              <a:extLst>
                <a:ext uri="{FF2B5EF4-FFF2-40B4-BE49-F238E27FC236}">
                  <a16:creationId xmlns:a16="http://schemas.microsoft.com/office/drawing/2014/main" id="{FA8BFD30-2C85-7C56-3153-EF958D0CB688}"/>
                </a:ext>
              </a:extLst>
            </p:cNvPr>
            <p:cNvCxnSpPr/>
            <p:nvPr/>
          </p:nvCxnSpPr>
          <p:spPr>
            <a:xfrm>
              <a:off x="36740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42">
              <a:extLst>
                <a:ext uri="{FF2B5EF4-FFF2-40B4-BE49-F238E27FC236}">
                  <a16:creationId xmlns:a16="http://schemas.microsoft.com/office/drawing/2014/main" id="{521AC315-11B4-CB03-3E7F-88B5EF302E2B}"/>
                </a:ext>
              </a:extLst>
            </p:cNvPr>
            <p:cNvCxnSpPr/>
            <p:nvPr/>
          </p:nvCxnSpPr>
          <p:spPr>
            <a:xfrm>
              <a:off x="42018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42">
              <a:extLst>
                <a:ext uri="{FF2B5EF4-FFF2-40B4-BE49-F238E27FC236}">
                  <a16:creationId xmlns:a16="http://schemas.microsoft.com/office/drawing/2014/main" id="{CD9D14AC-D27D-FA15-5F44-0253D7EBAFD0}"/>
                </a:ext>
              </a:extLst>
            </p:cNvPr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2">
              <a:extLst>
                <a:ext uri="{FF2B5EF4-FFF2-40B4-BE49-F238E27FC236}">
                  <a16:creationId xmlns:a16="http://schemas.microsoft.com/office/drawing/2014/main" id="{75554B44-5839-EEF3-4A58-BBB532E7BE3A}"/>
                </a:ext>
              </a:extLst>
            </p:cNvPr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1" name="Google Shape;571;p42">
            <a:extLst>
              <a:ext uri="{FF2B5EF4-FFF2-40B4-BE49-F238E27FC236}">
                <a16:creationId xmlns:a16="http://schemas.microsoft.com/office/drawing/2014/main" id="{8DC655EB-AA21-6A63-4B15-AB982BCFEB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1187" y="430338"/>
            <a:ext cx="6010200" cy="10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System Architecture</a:t>
            </a:r>
            <a:endParaRPr lang="en-US"/>
          </a:p>
        </p:txBody>
      </p:sp>
      <p:sp>
        <p:nvSpPr>
          <p:cNvPr id="572" name="Google Shape;572;p42">
            <a:extLst>
              <a:ext uri="{FF2B5EF4-FFF2-40B4-BE49-F238E27FC236}">
                <a16:creationId xmlns:a16="http://schemas.microsoft.com/office/drawing/2014/main" id="{700C9C89-D75B-40D7-AF17-A9F2556492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81494" y="1700202"/>
            <a:ext cx="6010200" cy="20944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b="1"/>
              <a:t>Front-End:</a:t>
            </a:r>
            <a:r>
              <a:rPr lang="en-US"/>
              <a:t> Collects applicant data and uploads documents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 b="1"/>
              <a:t>Backend :</a:t>
            </a:r>
            <a:r>
              <a:rPr lang="en-US"/>
              <a:t> Coordinates processing and manages workflow</a:t>
            </a:r>
          </a:p>
          <a:p>
            <a:pPr marL="0" indent="0" algn="l"/>
            <a:endParaRPr lang="en-US" b="1"/>
          </a:p>
          <a:p>
            <a:pPr marL="0" indent="0" algn="l"/>
            <a:r>
              <a:rPr lang="en-US" b="1"/>
              <a:t>OCR Module:</a:t>
            </a:r>
            <a:r>
              <a:rPr lang="en-US"/>
              <a:t> Extracts text from PDFs</a:t>
            </a:r>
          </a:p>
          <a:p>
            <a:pPr marL="0" indent="0" algn="l"/>
            <a:endParaRPr lang="en-US" b="1"/>
          </a:p>
          <a:p>
            <a:pPr marL="0" indent="0" algn="l"/>
            <a:r>
              <a:rPr lang="en-US" b="1"/>
              <a:t>AI &amp; Fallback Analysis:</a:t>
            </a:r>
            <a:r>
              <a:rPr lang="en-US"/>
              <a:t> Evaluates essays &amp; detects anomalies/fraud</a:t>
            </a:r>
          </a:p>
          <a:p>
            <a:pPr marL="0" indent="0" algn="l"/>
            <a:endParaRPr lang="en-US" b="1"/>
          </a:p>
          <a:p>
            <a:pPr marL="0" indent="0" algn="l"/>
            <a:r>
              <a:rPr lang="en-US" b="1"/>
              <a:t>Scoring Engine:</a:t>
            </a:r>
            <a:r>
              <a:rPr lang="en-US"/>
              <a:t> Calculates composite scores</a:t>
            </a:r>
          </a:p>
          <a:p>
            <a:pPr marL="0" indent="0" algn="l"/>
            <a:endParaRPr lang="en-US" b="1"/>
          </a:p>
          <a:p>
            <a:pPr marL="0" indent="0" algn="l"/>
            <a:r>
              <a:rPr lang="en-US" b="1"/>
              <a:t>Result Delivery:</a:t>
            </a:r>
            <a:r>
              <a:rPr lang="en-US"/>
              <a:t> Backend sends structured results back to the UI</a:t>
            </a:r>
          </a:p>
          <a:p>
            <a:pPr marL="0" indent="0" algn="l"/>
            <a:endParaRPr lang="en-US"/>
          </a:p>
        </p:txBody>
      </p:sp>
      <p:grpSp>
        <p:nvGrpSpPr>
          <p:cNvPr id="573" name="Google Shape;573;p42">
            <a:extLst>
              <a:ext uri="{FF2B5EF4-FFF2-40B4-BE49-F238E27FC236}">
                <a16:creationId xmlns:a16="http://schemas.microsoft.com/office/drawing/2014/main" id="{9E6F24BA-D017-95C9-8391-23B65DF64863}"/>
              </a:ext>
            </a:extLst>
          </p:cNvPr>
          <p:cNvGrpSpPr/>
          <p:nvPr/>
        </p:nvGrpSpPr>
        <p:grpSpPr>
          <a:xfrm flipH="1">
            <a:off x="7186981" y="4009012"/>
            <a:ext cx="813900" cy="818100"/>
            <a:chOff x="8014675" y="343325"/>
            <a:chExt cx="813900" cy="818100"/>
          </a:xfrm>
        </p:grpSpPr>
        <p:sp>
          <p:nvSpPr>
            <p:cNvPr id="574" name="Google Shape;574;p42">
              <a:extLst>
                <a:ext uri="{FF2B5EF4-FFF2-40B4-BE49-F238E27FC236}">
                  <a16:creationId xmlns:a16="http://schemas.microsoft.com/office/drawing/2014/main" id="{A9F0CA0A-532F-47F1-D1FA-0B48B6F63DB1}"/>
                </a:ext>
              </a:extLst>
            </p:cNvPr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2">
              <a:extLst>
                <a:ext uri="{FF2B5EF4-FFF2-40B4-BE49-F238E27FC236}">
                  <a16:creationId xmlns:a16="http://schemas.microsoft.com/office/drawing/2014/main" id="{66CB2FDB-2186-1AB1-313E-FB352D5581BF}"/>
                </a:ext>
              </a:extLst>
            </p:cNvPr>
            <p:cNvSpPr/>
            <p:nvPr/>
          </p:nvSpPr>
          <p:spPr>
            <a:xfrm rot="-5400000">
              <a:off x="8012575" y="345425"/>
              <a:ext cx="818100" cy="8139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42">
            <a:extLst>
              <a:ext uri="{FF2B5EF4-FFF2-40B4-BE49-F238E27FC236}">
                <a16:creationId xmlns:a16="http://schemas.microsoft.com/office/drawing/2014/main" id="{13D09FD0-0EEB-3B64-AA78-C5F9EE186DFA}"/>
              </a:ext>
            </a:extLst>
          </p:cNvPr>
          <p:cNvGrpSpPr/>
          <p:nvPr/>
        </p:nvGrpSpPr>
        <p:grpSpPr>
          <a:xfrm rot="-5400000">
            <a:off x="-251725" y="3299300"/>
            <a:ext cx="2278800" cy="330600"/>
            <a:chOff x="722375" y="4604000"/>
            <a:chExt cx="2278800" cy="330600"/>
          </a:xfrm>
        </p:grpSpPr>
        <p:sp>
          <p:nvSpPr>
            <p:cNvPr id="577" name="Google Shape;577;p42">
              <a:extLst>
                <a:ext uri="{FF2B5EF4-FFF2-40B4-BE49-F238E27FC236}">
                  <a16:creationId xmlns:a16="http://schemas.microsoft.com/office/drawing/2014/main" id="{BD4F63D3-81BA-A1A2-909F-84D03791B16E}"/>
                </a:ext>
              </a:extLst>
            </p:cNvPr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2">
              <a:extLst>
                <a:ext uri="{FF2B5EF4-FFF2-40B4-BE49-F238E27FC236}">
                  <a16:creationId xmlns:a16="http://schemas.microsoft.com/office/drawing/2014/main" id="{66B1B238-F60B-A1F3-5750-0BC3BD216AC1}"/>
                </a:ext>
              </a:extLst>
            </p:cNvPr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2">
            <a:extLst>
              <a:ext uri="{FF2B5EF4-FFF2-40B4-BE49-F238E27FC236}">
                <a16:creationId xmlns:a16="http://schemas.microsoft.com/office/drawing/2014/main" id="{EC259337-C5BA-9B92-D6C4-75C4A334377E}"/>
              </a:ext>
            </a:extLst>
          </p:cNvPr>
          <p:cNvSpPr/>
          <p:nvPr/>
        </p:nvSpPr>
        <p:spPr>
          <a:xfrm>
            <a:off x="8120213" y="251450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2">
            <a:extLst>
              <a:ext uri="{FF2B5EF4-FFF2-40B4-BE49-F238E27FC236}">
                <a16:creationId xmlns:a16="http://schemas.microsoft.com/office/drawing/2014/main" id="{BA592082-BC05-DCCB-188C-BA1A2015CF0D}"/>
              </a:ext>
            </a:extLst>
          </p:cNvPr>
          <p:cNvSpPr/>
          <p:nvPr/>
        </p:nvSpPr>
        <p:spPr>
          <a:xfrm rot="-900000">
            <a:off x="1820718" y="-278160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297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>
          <a:extLst>
            <a:ext uri="{FF2B5EF4-FFF2-40B4-BE49-F238E27FC236}">
              <a16:creationId xmlns:a16="http://schemas.microsoft.com/office/drawing/2014/main" id="{C55BC3CB-C307-76ED-BF37-8162A4636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2">
            <a:extLst>
              <a:ext uri="{FF2B5EF4-FFF2-40B4-BE49-F238E27FC236}">
                <a16:creationId xmlns:a16="http://schemas.microsoft.com/office/drawing/2014/main" id="{62AD8258-5D0C-68F7-8152-EE7804AF9532}"/>
              </a:ext>
            </a:extLst>
          </p:cNvPr>
          <p:cNvGrpSpPr/>
          <p:nvPr/>
        </p:nvGrpSpPr>
        <p:grpSpPr>
          <a:xfrm flipH="1">
            <a:off x="5728737" y="0"/>
            <a:ext cx="3415264" cy="2172858"/>
            <a:chOff x="0" y="3"/>
            <a:chExt cx="4201850" cy="2673300"/>
          </a:xfrm>
        </p:grpSpPr>
        <p:cxnSp>
          <p:nvCxnSpPr>
            <p:cNvPr id="558" name="Google Shape;558;p42">
              <a:extLst>
                <a:ext uri="{FF2B5EF4-FFF2-40B4-BE49-F238E27FC236}">
                  <a16:creationId xmlns:a16="http://schemas.microsoft.com/office/drawing/2014/main" id="{19E908A8-9CF5-E601-8A43-884433784D4F}"/>
                </a:ext>
              </a:extLst>
            </p:cNvPr>
            <p:cNvCxnSpPr/>
            <p:nvPr/>
          </p:nvCxnSpPr>
          <p:spPr>
            <a:xfrm>
              <a:off x="0" y="5414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42">
              <a:extLst>
                <a:ext uri="{FF2B5EF4-FFF2-40B4-BE49-F238E27FC236}">
                  <a16:creationId xmlns:a16="http://schemas.microsoft.com/office/drawing/2014/main" id="{2847939B-5F62-25E3-99F4-3028DFB60680}"/>
                </a:ext>
              </a:extLst>
            </p:cNvPr>
            <p:cNvCxnSpPr/>
            <p:nvPr/>
          </p:nvCxnSpPr>
          <p:spPr>
            <a:xfrm>
              <a:off x="0" y="10760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42">
              <a:extLst>
                <a:ext uri="{FF2B5EF4-FFF2-40B4-BE49-F238E27FC236}">
                  <a16:creationId xmlns:a16="http://schemas.microsoft.com/office/drawing/2014/main" id="{71D6EE67-155A-E4C5-D1BF-3EFB79748B48}"/>
                </a:ext>
              </a:extLst>
            </p:cNvPr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42">
              <a:extLst>
                <a:ext uri="{FF2B5EF4-FFF2-40B4-BE49-F238E27FC236}">
                  <a16:creationId xmlns:a16="http://schemas.microsoft.com/office/drawing/2014/main" id="{A7F323CF-7B0A-4D07-E3D0-5B4D5C8C27A3}"/>
                </a:ext>
              </a:extLst>
            </p:cNvPr>
            <p:cNvCxnSpPr/>
            <p:nvPr/>
          </p:nvCxnSpPr>
          <p:spPr>
            <a:xfrm>
              <a:off x="5278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42">
              <a:extLst>
                <a:ext uri="{FF2B5EF4-FFF2-40B4-BE49-F238E27FC236}">
                  <a16:creationId xmlns:a16="http://schemas.microsoft.com/office/drawing/2014/main" id="{965EEBA5-3F2D-DCBB-0A0A-D24611732740}"/>
                </a:ext>
              </a:extLst>
            </p:cNvPr>
            <p:cNvCxnSpPr/>
            <p:nvPr/>
          </p:nvCxnSpPr>
          <p:spPr>
            <a:xfrm>
              <a:off x="10556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42">
              <a:extLst>
                <a:ext uri="{FF2B5EF4-FFF2-40B4-BE49-F238E27FC236}">
                  <a16:creationId xmlns:a16="http://schemas.microsoft.com/office/drawing/2014/main" id="{0B975FBD-A624-9756-D798-4227E8938207}"/>
                </a:ext>
              </a:extLst>
            </p:cNvPr>
            <p:cNvCxnSpPr/>
            <p:nvPr/>
          </p:nvCxnSpPr>
          <p:spPr>
            <a:xfrm>
              <a:off x="15765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42">
              <a:extLst>
                <a:ext uri="{FF2B5EF4-FFF2-40B4-BE49-F238E27FC236}">
                  <a16:creationId xmlns:a16="http://schemas.microsoft.com/office/drawing/2014/main" id="{DE081947-64DB-9E9E-0F04-76D19B9E8FEE}"/>
                </a:ext>
              </a:extLst>
            </p:cNvPr>
            <p:cNvCxnSpPr/>
            <p:nvPr/>
          </p:nvCxnSpPr>
          <p:spPr>
            <a:xfrm>
              <a:off x="21043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42">
              <a:extLst>
                <a:ext uri="{FF2B5EF4-FFF2-40B4-BE49-F238E27FC236}">
                  <a16:creationId xmlns:a16="http://schemas.microsoft.com/office/drawing/2014/main" id="{27453F0D-DC7F-FEC6-196A-5AABC7D75840}"/>
                </a:ext>
              </a:extLst>
            </p:cNvPr>
            <p:cNvCxnSpPr/>
            <p:nvPr/>
          </p:nvCxnSpPr>
          <p:spPr>
            <a:xfrm>
              <a:off x="26253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42">
              <a:extLst>
                <a:ext uri="{FF2B5EF4-FFF2-40B4-BE49-F238E27FC236}">
                  <a16:creationId xmlns:a16="http://schemas.microsoft.com/office/drawing/2014/main" id="{86BFEF89-F8D2-2A0A-8C61-096892235E12}"/>
                </a:ext>
              </a:extLst>
            </p:cNvPr>
            <p:cNvCxnSpPr/>
            <p:nvPr/>
          </p:nvCxnSpPr>
          <p:spPr>
            <a:xfrm>
              <a:off x="31531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42">
              <a:extLst>
                <a:ext uri="{FF2B5EF4-FFF2-40B4-BE49-F238E27FC236}">
                  <a16:creationId xmlns:a16="http://schemas.microsoft.com/office/drawing/2014/main" id="{5283F620-B157-765D-FF85-952A0864B178}"/>
                </a:ext>
              </a:extLst>
            </p:cNvPr>
            <p:cNvCxnSpPr/>
            <p:nvPr/>
          </p:nvCxnSpPr>
          <p:spPr>
            <a:xfrm>
              <a:off x="36740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42">
              <a:extLst>
                <a:ext uri="{FF2B5EF4-FFF2-40B4-BE49-F238E27FC236}">
                  <a16:creationId xmlns:a16="http://schemas.microsoft.com/office/drawing/2014/main" id="{5AE13FC3-3B94-E78C-14B8-02CA1C7FBB77}"/>
                </a:ext>
              </a:extLst>
            </p:cNvPr>
            <p:cNvCxnSpPr/>
            <p:nvPr/>
          </p:nvCxnSpPr>
          <p:spPr>
            <a:xfrm>
              <a:off x="42018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42">
              <a:extLst>
                <a:ext uri="{FF2B5EF4-FFF2-40B4-BE49-F238E27FC236}">
                  <a16:creationId xmlns:a16="http://schemas.microsoft.com/office/drawing/2014/main" id="{CFAB8C28-FA41-5285-8233-2489E7743CE5}"/>
                </a:ext>
              </a:extLst>
            </p:cNvPr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2">
              <a:extLst>
                <a:ext uri="{FF2B5EF4-FFF2-40B4-BE49-F238E27FC236}">
                  <a16:creationId xmlns:a16="http://schemas.microsoft.com/office/drawing/2014/main" id="{16AEEDCF-0D6E-869B-DE10-9D3A841A5518}"/>
                </a:ext>
              </a:extLst>
            </p:cNvPr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1" name="Google Shape;571;p42">
            <a:extLst>
              <a:ext uri="{FF2B5EF4-FFF2-40B4-BE49-F238E27FC236}">
                <a16:creationId xmlns:a16="http://schemas.microsoft.com/office/drawing/2014/main" id="{E67F5E06-1E4E-5075-EA34-5CEDB0A5A3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6900" y="437980"/>
            <a:ext cx="6010200" cy="10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Diagram</a:t>
            </a:r>
            <a:endParaRPr/>
          </a:p>
        </p:txBody>
      </p:sp>
      <p:grpSp>
        <p:nvGrpSpPr>
          <p:cNvPr id="576" name="Google Shape;576;p42">
            <a:extLst>
              <a:ext uri="{FF2B5EF4-FFF2-40B4-BE49-F238E27FC236}">
                <a16:creationId xmlns:a16="http://schemas.microsoft.com/office/drawing/2014/main" id="{59490BAE-1B9A-F6AC-63CF-EB882784ABED}"/>
              </a:ext>
            </a:extLst>
          </p:cNvPr>
          <p:cNvGrpSpPr/>
          <p:nvPr/>
        </p:nvGrpSpPr>
        <p:grpSpPr>
          <a:xfrm rot="-5400000">
            <a:off x="-251725" y="3299300"/>
            <a:ext cx="2278800" cy="330600"/>
            <a:chOff x="722375" y="4604000"/>
            <a:chExt cx="2278800" cy="330600"/>
          </a:xfrm>
        </p:grpSpPr>
        <p:sp>
          <p:nvSpPr>
            <p:cNvPr id="577" name="Google Shape;577;p42">
              <a:extLst>
                <a:ext uri="{FF2B5EF4-FFF2-40B4-BE49-F238E27FC236}">
                  <a16:creationId xmlns:a16="http://schemas.microsoft.com/office/drawing/2014/main" id="{407A7D41-2DF8-CF7C-1965-A67978495CD5}"/>
                </a:ext>
              </a:extLst>
            </p:cNvPr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2">
              <a:extLst>
                <a:ext uri="{FF2B5EF4-FFF2-40B4-BE49-F238E27FC236}">
                  <a16:creationId xmlns:a16="http://schemas.microsoft.com/office/drawing/2014/main" id="{65BAAF60-FBE0-5925-5772-59FBA5422040}"/>
                </a:ext>
              </a:extLst>
            </p:cNvPr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2">
            <a:extLst>
              <a:ext uri="{FF2B5EF4-FFF2-40B4-BE49-F238E27FC236}">
                <a16:creationId xmlns:a16="http://schemas.microsoft.com/office/drawing/2014/main" id="{BA22194B-BBFB-51A3-F3C2-3CBCF00F7E38}"/>
              </a:ext>
            </a:extLst>
          </p:cNvPr>
          <p:cNvSpPr/>
          <p:nvPr/>
        </p:nvSpPr>
        <p:spPr>
          <a:xfrm>
            <a:off x="8355956" y="1400075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2">
            <a:extLst>
              <a:ext uri="{FF2B5EF4-FFF2-40B4-BE49-F238E27FC236}">
                <a16:creationId xmlns:a16="http://schemas.microsoft.com/office/drawing/2014/main" id="{4EA755CC-C606-4639-137E-DC8251CC5028}"/>
              </a:ext>
            </a:extLst>
          </p:cNvPr>
          <p:cNvSpPr/>
          <p:nvPr/>
        </p:nvSpPr>
        <p:spPr>
          <a:xfrm rot="-480000">
            <a:off x="1835006" y="-349597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 descr="A diagram of a process&#10;&#10;AI-generated content may be incorrect.">
            <a:extLst>
              <a:ext uri="{FF2B5EF4-FFF2-40B4-BE49-F238E27FC236}">
                <a16:creationId xmlns:a16="http://schemas.microsoft.com/office/drawing/2014/main" id="{E9B0654F-5A0E-DFE4-F965-056B7EA4A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49" y="1699329"/>
            <a:ext cx="8343900" cy="2994999"/>
          </a:xfrm>
          <a:prstGeom prst="rect">
            <a:avLst/>
          </a:prstGeom>
        </p:spPr>
      </p:pic>
      <p:sp>
        <p:nvSpPr>
          <p:cNvPr id="8" name="Google Shape;579;p42">
            <a:extLst>
              <a:ext uri="{FF2B5EF4-FFF2-40B4-BE49-F238E27FC236}">
                <a16:creationId xmlns:a16="http://schemas.microsoft.com/office/drawing/2014/main" id="{067AC4EC-2665-3656-550F-8CEE7B8AC9B1}"/>
              </a:ext>
            </a:extLst>
          </p:cNvPr>
          <p:cNvSpPr/>
          <p:nvPr/>
        </p:nvSpPr>
        <p:spPr>
          <a:xfrm>
            <a:off x="97781" y="4393305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8826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>
          <a:extLst>
            <a:ext uri="{FF2B5EF4-FFF2-40B4-BE49-F238E27FC236}">
              <a16:creationId xmlns:a16="http://schemas.microsoft.com/office/drawing/2014/main" id="{6CF73B09-F6AC-117F-BC67-ECF51CA3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2">
            <a:extLst>
              <a:ext uri="{FF2B5EF4-FFF2-40B4-BE49-F238E27FC236}">
                <a16:creationId xmlns:a16="http://schemas.microsoft.com/office/drawing/2014/main" id="{2992045E-75EA-15B5-8270-2614C158257B}"/>
              </a:ext>
            </a:extLst>
          </p:cNvPr>
          <p:cNvGrpSpPr/>
          <p:nvPr/>
        </p:nvGrpSpPr>
        <p:grpSpPr>
          <a:xfrm flipH="1">
            <a:off x="5728737" y="0"/>
            <a:ext cx="3415264" cy="2172858"/>
            <a:chOff x="0" y="3"/>
            <a:chExt cx="4201850" cy="2673300"/>
          </a:xfrm>
        </p:grpSpPr>
        <p:cxnSp>
          <p:nvCxnSpPr>
            <p:cNvPr id="558" name="Google Shape;558;p42">
              <a:extLst>
                <a:ext uri="{FF2B5EF4-FFF2-40B4-BE49-F238E27FC236}">
                  <a16:creationId xmlns:a16="http://schemas.microsoft.com/office/drawing/2014/main" id="{8176E96A-BA6F-D4AD-1E49-4A94557F0E5A}"/>
                </a:ext>
              </a:extLst>
            </p:cNvPr>
            <p:cNvCxnSpPr/>
            <p:nvPr/>
          </p:nvCxnSpPr>
          <p:spPr>
            <a:xfrm>
              <a:off x="0" y="5414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42">
              <a:extLst>
                <a:ext uri="{FF2B5EF4-FFF2-40B4-BE49-F238E27FC236}">
                  <a16:creationId xmlns:a16="http://schemas.microsoft.com/office/drawing/2014/main" id="{976E88EC-CF31-1206-0970-FFC62346D2DF}"/>
                </a:ext>
              </a:extLst>
            </p:cNvPr>
            <p:cNvCxnSpPr/>
            <p:nvPr/>
          </p:nvCxnSpPr>
          <p:spPr>
            <a:xfrm>
              <a:off x="0" y="10760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42">
              <a:extLst>
                <a:ext uri="{FF2B5EF4-FFF2-40B4-BE49-F238E27FC236}">
                  <a16:creationId xmlns:a16="http://schemas.microsoft.com/office/drawing/2014/main" id="{B95EF073-8027-9FE4-E124-9308AFF3D2BC}"/>
                </a:ext>
              </a:extLst>
            </p:cNvPr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42">
              <a:extLst>
                <a:ext uri="{FF2B5EF4-FFF2-40B4-BE49-F238E27FC236}">
                  <a16:creationId xmlns:a16="http://schemas.microsoft.com/office/drawing/2014/main" id="{B5255FF4-E5F4-1762-94BE-49D56DD0A594}"/>
                </a:ext>
              </a:extLst>
            </p:cNvPr>
            <p:cNvCxnSpPr/>
            <p:nvPr/>
          </p:nvCxnSpPr>
          <p:spPr>
            <a:xfrm>
              <a:off x="5278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42">
              <a:extLst>
                <a:ext uri="{FF2B5EF4-FFF2-40B4-BE49-F238E27FC236}">
                  <a16:creationId xmlns:a16="http://schemas.microsoft.com/office/drawing/2014/main" id="{4EDBFC4C-9E60-61FD-FFAA-453BB0DEFAE4}"/>
                </a:ext>
              </a:extLst>
            </p:cNvPr>
            <p:cNvCxnSpPr/>
            <p:nvPr/>
          </p:nvCxnSpPr>
          <p:spPr>
            <a:xfrm>
              <a:off x="10556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42">
              <a:extLst>
                <a:ext uri="{FF2B5EF4-FFF2-40B4-BE49-F238E27FC236}">
                  <a16:creationId xmlns:a16="http://schemas.microsoft.com/office/drawing/2014/main" id="{83237E88-366E-2B03-0967-710F72E34E4A}"/>
                </a:ext>
              </a:extLst>
            </p:cNvPr>
            <p:cNvCxnSpPr/>
            <p:nvPr/>
          </p:nvCxnSpPr>
          <p:spPr>
            <a:xfrm>
              <a:off x="15765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42">
              <a:extLst>
                <a:ext uri="{FF2B5EF4-FFF2-40B4-BE49-F238E27FC236}">
                  <a16:creationId xmlns:a16="http://schemas.microsoft.com/office/drawing/2014/main" id="{CE2626BE-544F-7C4B-9642-EB30AC8FA4D8}"/>
                </a:ext>
              </a:extLst>
            </p:cNvPr>
            <p:cNvCxnSpPr/>
            <p:nvPr/>
          </p:nvCxnSpPr>
          <p:spPr>
            <a:xfrm>
              <a:off x="21043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42">
              <a:extLst>
                <a:ext uri="{FF2B5EF4-FFF2-40B4-BE49-F238E27FC236}">
                  <a16:creationId xmlns:a16="http://schemas.microsoft.com/office/drawing/2014/main" id="{6AEC0C12-277F-DAF2-4732-C5495A9912A9}"/>
                </a:ext>
              </a:extLst>
            </p:cNvPr>
            <p:cNvCxnSpPr/>
            <p:nvPr/>
          </p:nvCxnSpPr>
          <p:spPr>
            <a:xfrm>
              <a:off x="26253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42">
              <a:extLst>
                <a:ext uri="{FF2B5EF4-FFF2-40B4-BE49-F238E27FC236}">
                  <a16:creationId xmlns:a16="http://schemas.microsoft.com/office/drawing/2014/main" id="{B20824C0-09AB-BA39-77B8-B78B7427E375}"/>
                </a:ext>
              </a:extLst>
            </p:cNvPr>
            <p:cNvCxnSpPr/>
            <p:nvPr/>
          </p:nvCxnSpPr>
          <p:spPr>
            <a:xfrm>
              <a:off x="31531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42">
              <a:extLst>
                <a:ext uri="{FF2B5EF4-FFF2-40B4-BE49-F238E27FC236}">
                  <a16:creationId xmlns:a16="http://schemas.microsoft.com/office/drawing/2014/main" id="{06211E1A-C8D7-D357-5C37-F61A31996C18}"/>
                </a:ext>
              </a:extLst>
            </p:cNvPr>
            <p:cNvCxnSpPr/>
            <p:nvPr/>
          </p:nvCxnSpPr>
          <p:spPr>
            <a:xfrm>
              <a:off x="36740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42">
              <a:extLst>
                <a:ext uri="{FF2B5EF4-FFF2-40B4-BE49-F238E27FC236}">
                  <a16:creationId xmlns:a16="http://schemas.microsoft.com/office/drawing/2014/main" id="{D2CC15E0-3A42-7354-1727-840AD597B21C}"/>
                </a:ext>
              </a:extLst>
            </p:cNvPr>
            <p:cNvCxnSpPr/>
            <p:nvPr/>
          </p:nvCxnSpPr>
          <p:spPr>
            <a:xfrm>
              <a:off x="42018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42">
              <a:extLst>
                <a:ext uri="{FF2B5EF4-FFF2-40B4-BE49-F238E27FC236}">
                  <a16:creationId xmlns:a16="http://schemas.microsoft.com/office/drawing/2014/main" id="{8632F62C-1610-8928-9330-0655839A6EF0}"/>
                </a:ext>
              </a:extLst>
            </p:cNvPr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2">
              <a:extLst>
                <a:ext uri="{FF2B5EF4-FFF2-40B4-BE49-F238E27FC236}">
                  <a16:creationId xmlns:a16="http://schemas.microsoft.com/office/drawing/2014/main" id="{12F921D1-FC06-987E-1D1D-571BBEF6A6B1}"/>
                </a:ext>
              </a:extLst>
            </p:cNvPr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1" name="Google Shape;571;p42">
            <a:extLst>
              <a:ext uri="{FF2B5EF4-FFF2-40B4-BE49-F238E27FC236}">
                <a16:creationId xmlns:a16="http://schemas.microsoft.com/office/drawing/2014/main" id="{A9B6ABC7-E992-A89F-751A-0C1190752C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1187" y="416051"/>
            <a:ext cx="6010200" cy="10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3 Achievements</a:t>
            </a:r>
          </a:p>
        </p:txBody>
      </p:sp>
      <p:sp>
        <p:nvSpPr>
          <p:cNvPr id="572" name="Google Shape;572;p42">
            <a:extLst>
              <a:ext uri="{FF2B5EF4-FFF2-40B4-BE49-F238E27FC236}">
                <a16:creationId xmlns:a16="http://schemas.microsoft.com/office/drawing/2014/main" id="{B927817E-53D6-508F-D5F9-255FCEFAB26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81494" y="1764496"/>
            <a:ext cx="6010200" cy="32160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/>
              <a:t>Added multi-PDF batch processing for faster analysis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/>
              <a:t>Implemented financial and transcript document fraud detection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/>
              <a:t>Integrated GPT-based reasoning for explainable risk levels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/>
              <a:t>Added Low / Medium / High fraud classifications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/>
              <a:t>Enhanced OCR previews and AI scoring summaries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/>
              <a:t>Fully integrated fraud checks into the Flask UI workflow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/>
              <a:t>Enabled export of results to CSV/Excel</a:t>
            </a:r>
          </a:p>
        </p:txBody>
      </p:sp>
      <p:grpSp>
        <p:nvGrpSpPr>
          <p:cNvPr id="573" name="Google Shape;573;p42">
            <a:extLst>
              <a:ext uri="{FF2B5EF4-FFF2-40B4-BE49-F238E27FC236}">
                <a16:creationId xmlns:a16="http://schemas.microsoft.com/office/drawing/2014/main" id="{DFBF0C8A-AFCB-ED95-0D53-C96F0E681F60}"/>
              </a:ext>
            </a:extLst>
          </p:cNvPr>
          <p:cNvGrpSpPr/>
          <p:nvPr/>
        </p:nvGrpSpPr>
        <p:grpSpPr>
          <a:xfrm flipH="1">
            <a:off x="6936950" y="3937575"/>
            <a:ext cx="813900" cy="818100"/>
            <a:chOff x="8014675" y="343325"/>
            <a:chExt cx="813900" cy="818100"/>
          </a:xfrm>
        </p:grpSpPr>
        <p:sp>
          <p:nvSpPr>
            <p:cNvPr id="574" name="Google Shape;574;p42">
              <a:extLst>
                <a:ext uri="{FF2B5EF4-FFF2-40B4-BE49-F238E27FC236}">
                  <a16:creationId xmlns:a16="http://schemas.microsoft.com/office/drawing/2014/main" id="{6AC5F5F5-85B7-4DE3-5229-CC6671941352}"/>
                </a:ext>
              </a:extLst>
            </p:cNvPr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2">
              <a:extLst>
                <a:ext uri="{FF2B5EF4-FFF2-40B4-BE49-F238E27FC236}">
                  <a16:creationId xmlns:a16="http://schemas.microsoft.com/office/drawing/2014/main" id="{DACDA36C-5B59-9918-2613-A62E4ADD8065}"/>
                </a:ext>
              </a:extLst>
            </p:cNvPr>
            <p:cNvSpPr/>
            <p:nvPr/>
          </p:nvSpPr>
          <p:spPr>
            <a:xfrm rot="-5400000">
              <a:off x="8012575" y="345425"/>
              <a:ext cx="818100" cy="8139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42">
            <a:extLst>
              <a:ext uri="{FF2B5EF4-FFF2-40B4-BE49-F238E27FC236}">
                <a16:creationId xmlns:a16="http://schemas.microsoft.com/office/drawing/2014/main" id="{A5C946AF-0032-E25D-7670-60B40415970F}"/>
              </a:ext>
            </a:extLst>
          </p:cNvPr>
          <p:cNvGrpSpPr/>
          <p:nvPr/>
        </p:nvGrpSpPr>
        <p:grpSpPr>
          <a:xfrm rot="-5400000">
            <a:off x="-251725" y="3299300"/>
            <a:ext cx="2278800" cy="330600"/>
            <a:chOff x="722375" y="4604000"/>
            <a:chExt cx="2278800" cy="330600"/>
          </a:xfrm>
        </p:grpSpPr>
        <p:sp>
          <p:nvSpPr>
            <p:cNvPr id="577" name="Google Shape;577;p42">
              <a:extLst>
                <a:ext uri="{FF2B5EF4-FFF2-40B4-BE49-F238E27FC236}">
                  <a16:creationId xmlns:a16="http://schemas.microsoft.com/office/drawing/2014/main" id="{6D9BA961-2060-FCB3-036B-59FDB2EE4F59}"/>
                </a:ext>
              </a:extLst>
            </p:cNvPr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2">
              <a:extLst>
                <a:ext uri="{FF2B5EF4-FFF2-40B4-BE49-F238E27FC236}">
                  <a16:creationId xmlns:a16="http://schemas.microsoft.com/office/drawing/2014/main" id="{C308FC33-040F-A0AD-C262-44069413FA4D}"/>
                </a:ext>
              </a:extLst>
            </p:cNvPr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2">
            <a:extLst>
              <a:ext uri="{FF2B5EF4-FFF2-40B4-BE49-F238E27FC236}">
                <a16:creationId xmlns:a16="http://schemas.microsoft.com/office/drawing/2014/main" id="{A0E2A7C6-BF20-BEDF-F8CA-04DBE8CEC710}"/>
              </a:ext>
            </a:extLst>
          </p:cNvPr>
          <p:cNvSpPr/>
          <p:nvPr/>
        </p:nvSpPr>
        <p:spPr>
          <a:xfrm>
            <a:off x="8120213" y="251450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2">
            <a:extLst>
              <a:ext uri="{FF2B5EF4-FFF2-40B4-BE49-F238E27FC236}">
                <a16:creationId xmlns:a16="http://schemas.microsoft.com/office/drawing/2014/main" id="{630FBC19-3B9E-E05C-60BC-B55613C4EE68}"/>
              </a:ext>
            </a:extLst>
          </p:cNvPr>
          <p:cNvSpPr/>
          <p:nvPr/>
        </p:nvSpPr>
        <p:spPr>
          <a:xfrm rot="10800000">
            <a:off x="1684988" y="4443859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1860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>
          <a:extLst>
            <a:ext uri="{FF2B5EF4-FFF2-40B4-BE49-F238E27FC236}">
              <a16:creationId xmlns:a16="http://schemas.microsoft.com/office/drawing/2014/main" id="{31ABE34F-0564-FB7A-F193-00E7C2284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2">
            <a:extLst>
              <a:ext uri="{FF2B5EF4-FFF2-40B4-BE49-F238E27FC236}">
                <a16:creationId xmlns:a16="http://schemas.microsoft.com/office/drawing/2014/main" id="{5FBDE2CF-1549-C6C1-E407-BBCF448471EC}"/>
              </a:ext>
            </a:extLst>
          </p:cNvPr>
          <p:cNvGrpSpPr/>
          <p:nvPr/>
        </p:nvGrpSpPr>
        <p:grpSpPr>
          <a:xfrm flipH="1">
            <a:off x="5728737" y="0"/>
            <a:ext cx="3415264" cy="2172858"/>
            <a:chOff x="0" y="3"/>
            <a:chExt cx="4201850" cy="2673300"/>
          </a:xfrm>
        </p:grpSpPr>
        <p:cxnSp>
          <p:nvCxnSpPr>
            <p:cNvPr id="558" name="Google Shape;558;p42">
              <a:extLst>
                <a:ext uri="{FF2B5EF4-FFF2-40B4-BE49-F238E27FC236}">
                  <a16:creationId xmlns:a16="http://schemas.microsoft.com/office/drawing/2014/main" id="{CD6D3A50-6486-4BF6-E339-2F67F200F33E}"/>
                </a:ext>
              </a:extLst>
            </p:cNvPr>
            <p:cNvCxnSpPr/>
            <p:nvPr/>
          </p:nvCxnSpPr>
          <p:spPr>
            <a:xfrm>
              <a:off x="0" y="5414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42">
              <a:extLst>
                <a:ext uri="{FF2B5EF4-FFF2-40B4-BE49-F238E27FC236}">
                  <a16:creationId xmlns:a16="http://schemas.microsoft.com/office/drawing/2014/main" id="{80A50D5F-E79E-193D-5350-5A8185BF93DF}"/>
                </a:ext>
              </a:extLst>
            </p:cNvPr>
            <p:cNvCxnSpPr/>
            <p:nvPr/>
          </p:nvCxnSpPr>
          <p:spPr>
            <a:xfrm>
              <a:off x="0" y="10760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42">
              <a:extLst>
                <a:ext uri="{FF2B5EF4-FFF2-40B4-BE49-F238E27FC236}">
                  <a16:creationId xmlns:a16="http://schemas.microsoft.com/office/drawing/2014/main" id="{E6FB09EB-C91E-70A3-B3DD-59EF399677C3}"/>
                </a:ext>
              </a:extLst>
            </p:cNvPr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42">
              <a:extLst>
                <a:ext uri="{FF2B5EF4-FFF2-40B4-BE49-F238E27FC236}">
                  <a16:creationId xmlns:a16="http://schemas.microsoft.com/office/drawing/2014/main" id="{FEDA9F42-DD4C-4081-66A8-5A5C017A0647}"/>
                </a:ext>
              </a:extLst>
            </p:cNvPr>
            <p:cNvCxnSpPr/>
            <p:nvPr/>
          </p:nvCxnSpPr>
          <p:spPr>
            <a:xfrm>
              <a:off x="5278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42">
              <a:extLst>
                <a:ext uri="{FF2B5EF4-FFF2-40B4-BE49-F238E27FC236}">
                  <a16:creationId xmlns:a16="http://schemas.microsoft.com/office/drawing/2014/main" id="{2ED0CEF9-B92B-242B-129E-AB4695FE3886}"/>
                </a:ext>
              </a:extLst>
            </p:cNvPr>
            <p:cNvCxnSpPr/>
            <p:nvPr/>
          </p:nvCxnSpPr>
          <p:spPr>
            <a:xfrm>
              <a:off x="10556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42">
              <a:extLst>
                <a:ext uri="{FF2B5EF4-FFF2-40B4-BE49-F238E27FC236}">
                  <a16:creationId xmlns:a16="http://schemas.microsoft.com/office/drawing/2014/main" id="{D8FD7C1B-4DA8-3169-EF4A-C061E63684D4}"/>
                </a:ext>
              </a:extLst>
            </p:cNvPr>
            <p:cNvCxnSpPr/>
            <p:nvPr/>
          </p:nvCxnSpPr>
          <p:spPr>
            <a:xfrm>
              <a:off x="15765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42">
              <a:extLst>
                <a:ext uri="{FF2B5EF4-FFF2-40B4-BE49-F238E27FC236}">
                  <a16:creationId xmlns:a16="http://schemas.microsoft.com/office/drawing/2014/main" id="{BD013068-5D8F-D732-04F5-D166AC9EC2B7}"/>
                </a:ext>
              </a:extLst>
            </p:cNvPr>
            <p:cNvCxnSpPr/>
            <p:nvPr/>
          </p:nvCxnSpPr>
          <p:spPr>
            <a:xfrm>
              <a:off x="21043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42">
              <a:extLst>
                <a:ext uri="{FF2B5EF4-FFF2-40B4-BE49-F238E27FC236}">
                  <a16:creationId xmlns:a16="http://schemas.microsoft.com/office/drawing/2014/main" id="{6F8D6058-0147-3783-5BD7-0255D22A5254}"/>
                </a:ext>
              </a:extLst>
            </p:cNvPr>
            <p:cNvCxnSpPr/>
            <p:nvPr/>
          </p:nvCxnSpPr>
          <p:spPr>
            <a:xfrm>
              <a:off x="26253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42">
              <a:extLst>
                <a:ext uri="{FF2B5EF4-FFF2-40B4-BE49-F238E27FC236}">
                  <a16:creationId xmlns:a16="http://schemas.microsoft.com/office/drawing/2014/main" id="{949C4910-A1A7-BB99-2910-B7E4B1977AD4}"/>
                </a:ext>
              </a:extLst>
            </p:cNvPr>
            <p:cNvCxnSpPr/>
            <p:nvPr/>
          </p:nvCxnSpPr>
          <p:spPr>
            <a:xfrm>
              <a:off x="31531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42">
              <a:extLst>
                <a:ext uri="{FF2B5EF4-FFF2-40B4-BE49-F238E27FC236}">
                  <a16:creationId xmlns:a16="http://schemas.microsoft.com/office/drawing/2014/main" id="{0879E0A0-5976-5E69-6CA1-F5F5CBA4AB08}"/>
                </a:ext>
              </a:extLst>
            </p:cNvPr>
            <p:cNvCxnSpPr/>
            <p:nvPr/>
          </p:nvCxnSpPr>
          <p:spPr>
            <a:xfrm>
              <a:off x="36740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42">
              <a:extLst>
                <a:ext uri="{FF2B5EF4-FFF2-40B4-BE49-F238E27FC236}">
                  <a16:creationId xmlns:a16="http://schemas.microsoft.com/office/drawing/2014/main" id="{B67EDF07-4768-D9D1-CBAF-A983B45FECB9}"/>
                </a:ext>
              </a:extLst>
            </p:cNvPr>
            <p:cNvCxnSpPr/>
            <p:nvPr/>
          </p:nvCxnSpPr>
          <p:spPr>
            <a:xfrm>
              <a:off x="42018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42">
              <a:extLst>
                <a:ext uri="{FF2B5EF4-FFF2-40B4-BE49-F238E27FC236}">
                  <a16:creationId xmlns:a16="http://schemas.microsoft.com/office/drawing/2014/main" id="{5E23A022-C267-4740-DBF5-EFD9BEA31253}"/>
                </a:ext>
              </a:extLst>
            </p:cNvPr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2">
              <a:extLst>
                <a:ext uri="{FF2B5EF4-FFF2-40B4-BE49-F238E27FC236}">
                  <a16:creationId xmlns:a16="http://schemas.microsoft.com/office/drawing/2014/main" id="{00645660-F052-BB69-58FF-C31D83550E08}"/>
                </a:ext>
              </a:extLst>
            </p:cNvPr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1" name="Google Shape;571;p42">
            <a:extLst>
              <a:ext uri="{FF2B5EF4-FFF2-40B4-BE49-F238E27FC236}">
                <a16:creationId xmlns:a16="http://schemas.microsoft.com/office/drawing/2014/main" id="{2FD1C3D9-927D-67F5-4B6A-D1EE882E00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4057" y="422051"/>
            <a:ext cx="5795888" cy="9485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3 Retrospective</a:t>
            </a:r>
          </a:p>
        </p:txBody>
      </p:sp>
      <p:sp>
        <p:nvSpPr>
          <p:cNvPr id="572" name="Google Shape;572;p42">
            <a:extLst>
              <a:ext uri="{FF2B5EF4-FFF2-40B4-BE49-F238E27FC236}">
                <a16:creationId xmlns:a16="http://schemas.microsoft.com/office/drawing/2014/main" id="{37882BDA-D97A-0048-C7BE-15828717676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39" y="1598667"/>
            <a:ext cx="6053061" cy="183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b="1"/>
              <a:t>What Went Well:</a:t>
            </a:r>
          </a:p>
          <a:p>
            <a:pPr algn="l">
              <a:buFont typeface="Arial"/>
              <a:buChar char="•"/>
            </a:pPr>
            <a:r>
              <a:rPr lang="en-US" sz="1400"/>
              <a:t>End-to-end financial &amp; transcript fraud detection implemented</a:t>
            </a:r>
          </a:p>
          <a:p>
            <a:pPr algn="l">
              <a:buFont typeface="Arial"/>
              <a:buChar char="•"/>
            </a:pPr>
            <a:r>
              <a:rPr lang="en-US" sz="1400"/>
              <a:t>Seamless integration into the existing IARA workflow</a:t>
            </a:r>
          </a:p>
          <a:p>
            <a:pPr lvl="0" algn="l">
              <a:buFont typeface="Arial"/>
              <a:buChar char="•"/>
            </a:pPr>
            <a:r>
              <a:rPr lang="en-US" sz="1400"/>
              <a:t>Clear, explainable risk outputs (Low / Medium / High)</a:t>
            </a:r>
          </a:p>
          <a:p>
            <a:pPr algn="l">
              <a:buFont typeface="Arial"/>
              <a:buChar char="•"/>
            </a:pPr>
            <a:r>
              <a:rPr lang="en-US" sz="1400"/>
              <a:t>Multi-PDF batch processing added</a:t>
            </a:r>
          </a:p>
          <a:p>
            <a:pPr algn="l"/>
            <a:endParaRPr lang="en-US"/>
          </a:p>
          <a:p>
            <a:pPr lvl="0" algn="l"/>
            <a:r>
              <a:rPr lang="en-US" b="1"/>
              <a:t>Challenges:</a:t>
            </a:r>
          </a:p>
          <a:p>
            <a:pPr lvl="0" algn="l">
              <a:buFont typeface="Arial"/>
              <a:buChar char="•"/>
            </a:pPr>
            <a:r>
              <a:rPr lang="en-US" sz="1400"/>
              <a:t>Limited real sample documents</a:t>
            </a:r>
          </a:p>
          <a:p>
            <a:pPr lvl="0" algn="l">
              <a:buFont typeface="Arial"/>
              <a:buChar char="•"/>
            </a:pPr>
            <a:r>
              <a:rPr lang="en-US" sz="1400"/>
              <a:t>OCR quality varies with scan resolution</a:t>
            </a:r>
          </a:p>
          <a:p>
            <a:pPr algn="l">
              <a:buFont typeface="Arial"/>
              <a:buChar char="•"/>
            </a:pPr>
            <a:r>
              <a:rPr lang="en-US" sz="1400"/>
              <a:t>Large PDFs increase processing latency</a:t>
            </a:r>
          </a:p>
          <a:p>
            <a:pPr algn="l"/>
            <a:endParaRPr lang="en-US"/>
          </a:p>
          <a:p>
            <a:pPr algn="l"/>
            <a:r>
              <a:rPr lang="en-US" b="1"/>
              <a:t>How We Addressed Them:</a:t>
            </a:r>
          </a:p>
          <a:p>
            <a:pPr algn="l">
              <a:buFont typeface="Arial"/>
              <a:buChar char="•"/>
            </a:pPr>
            <a:r>
              <a:rPr lang="en-US" sz="1400"/>
              <a:t>Combined heuristics + GPT for reliable analysis</a:t>
            </a:r>
          </a:p>
          <a:p>
            <a:pPr algn="l">
              <a:buFont typeface="Arial"/>
              <a:buChar char="•"/>
            </a:pPr>
            <a:r>
              <a:rPr lang="en-US" sz="1400"/>
              <a:t>Added input limits and error handling</a:t>
            </a:r>
          </a:p>
          <a:p>
            <a:pPr lvl="0" algn="l">
              <a:buFont typeface="Arial"/>
              <a:buChar char="•"/>
            </a:pPr>
            <a:r>
              <a:rPr lang="en-US" sz="1400"/>
              <a:t>Logged fraud outcomes for future tuning and improvement</a:t>
            </a:r>
            <a:endParaRPr sz="1400"/>
          </a:p>
        </p:txBody>
      </p:sp>
      <p:grpSp>
        <p:nvGrpSpPr>
          <p:cNvPr id="573" name="Google Shape;573;p42">
            <a:extLst>
              <a:ext uri="{FF2B5EF4-FFF2-40B4-BE49-F238E27FC236}">
                <a16:creationId xmlns:a16="http://schemas.microsoft.com/office/drawing/2014/main" id="{DBCD8DB0-7DAD-588F-FB55-B94C4B516A65}"/>
              </a:ext>
            </a:extLst>
          </p:cNvPr>
          <p:cNvGrpSpPr/>
          <p:nvPr/>
        </p:nvGrpSpPr>
        <p:grpSpPr>
          <a:xfrm flipH="1">
            <a:off x="6936950" y="3937575"/>
            <a:ext cx="813900" cy="818100"/>
            <a:chOff x="8014675" y="343325"/>
            <a:chExt cx="813900" cy="818100"/>
          </a:xfrm>
        </p:grpSpPr>
        <p:sp>
          <p:nvSpPr>
            <p:cNvPr id="574" name="Google Shape;574;p42">
              <a:extLst>
                <a:ext uri="{FF2B5EF4-FFF2-40B4-BE49-F238E27FC236}">
                  <a16:creationId xmlns:a16="http://schemas.microsoft.com/office/drawing/2014/main" id="{E057DE71-3BBF-4DDF-7030-C87A30E5F27E}"/>
                </a:ext>
              </a:extLst>
            </p:cNvPr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2">
              <a:extLst>
                <a:ext uri="{FF2B5EF4-FFF2-40B4-BE49-F238E27FC236}">
                  <a16:creationId xmlns:a16="http://schemas.microsoft.com/office/drawing/2014/main" id="{55F6EE39-26EE-81A1-DC4F-1DAD47B97252}"/>
                </a:ext>
              </a:extLst>
            </p:cNvPr>
            <p:cNvSpPr/>
            <p:nvPr/>
          </p:nvSpPr>
          <p:spPr>
            <a:xfrm rot="-5400000">
              <a:off x="8012575" y="345425"/>
              <a:ext cx="818100" cy="8139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42">
            <a:extLst>
              <a:ext uri="{FF2B5EF4-FFF2-40B4-BE49-F238E27FC236}">
                <a16:creationId xmlns:a16="http://schemas.microsoft.com/office/drawing/2014/main" id="{F501B2B8-7A61-7136-6FB8-4623D7091813}"/>
              </a:ext>
            </a:extLst>
          </p:cNvPr>
          <p:cNvGrpSpPr/>
          <p:nvPr/>
        </p:nvGrpSpPr>
        <p:grpSpPr>
          <a:xfrm rot="-5400000">
            <a:off x="-251725" y="3299300"/>
            <a:ext cx="2278800" cy="330600"/>
            <a:chOff x="722375" y="4604000"/>
            <a:chExt cx="2278800" cy="330600"/>
          </a:xfrm>
        </p:grpSpPr>
        <p:sp>
          <p:nvSpPr>
            <p:cNvPr id="577" name="Google Shape;577;p42">
              <a:extLst>
                <a:ext uri="{FF2B5EF4-FFF2-40B4-BE49-F238E27FC236}">
                  <a16:creationId xmlns:a16="http://schemas.microsoft.com/office/drawing/2014/main" id="{9C5BA1A8-CC30-4DF5-76A4-EBFA32BB6A67}"/>
                </a:ext>
              </a:extLst>
            </p:cNvPr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2">
              <a:extLst>
                <a:ext uri="{FF2B5EF4-FFF2-40B4-BE49-F238E27FC236}">
                  <a16:creationId xmlns:a16="http://schemas.microsoft.com/office/drawing/2014/main" id="{C2A14A64-C6BA-A69D-ABD0-E146F79BC232}"/>
                </a:ext>
              </a:extLst>
            </p:cNvPr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2">
            <a:extLst>
              <a:ext uri="{FF2B5EF4-FFF2-40B4-BE49-F238E27FC236}">
                <a16:creationId xmlns:a16="http://schemas.microsoft.com/office/drawing/2014/main" id="{AEF74A1E-E01B-C378-8ECF-DF717B038FF6}"/>
              </a:ext>
            </a:extLst>
          </p:cNvPr>
          <p:cNvSpPr/>
          <p:nvPr/>
        </p:nvSpPr>
        <p:spPr>
          <a:xfrm>
            <a:off x="8120213" y="251450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2">
            <a:extLst>
              <a:ext uri="{FF2B5EF4-FFF2-40B4-BE49-F238E27FC236}">
                <a16:creationId xmlns:a16="http://schemas.microsoft.com/office/drawing/2014/main" id="{96E6C915-3EE6-6412-1CF1-E701B5B8453F}"/>
              </a:ext>
            </a:extLst>
          </p:cNvPr>
          <p:cNvSpPr/>
          <p:nvPr/>
        </p:nvSpPr>
        <p:spPr>
          <a:xfrm rot="480000">
            <a:off x="1592118" y="-271016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375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>
          <a:extLst>
            <a:ext uri="{FF2B5EF4-FFF2-40B4-BE49-F238E27FC236}">
              <a16:creationId xmlns:a16="http://schemas.microsoft.com/office/drawing/2014/main" id="{80C8F5FA-EB8E-90DB-74CA-F76366B3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2">
            <a:extLst>
              <a:ext uri="{FF2B5EF4-FFF2-40B4-BE49-F238E27FC236}">
                <a16:creationId xmlns:a16="http://schemas.microsoft.com/office/drawing/2014/main" id="{8E67F8E8-F663-9F9A-E7A9-F86403445A16}"/>
              </a:ext>
            </a:extLst>
          </p:cNvPr>
          <p:cNvGrpSpPr/>
          <p:nvPr/>
        </p:nvGrpSpPr>
        <p:grpSpPr>
          <a:xfrm flipH="1">
            <a:off x="5728737" y="0"/>
            <a:ext cx="3415264" cy="2172858"/>
            <a:chOff x="0" y="3"/>
            <a:chExt cx="4201850" cy="2673300"/>
          </a:xfrm>
        </p:grpSpPr>
        <p:cxnSp>
          <p:nvCxnSpPr>
            <p:cNvPr id="558" name="Google Shape;558;p42">
              <a:extLst>
                <a:ext uri="{FF2B5EF4-FFF2-40B4-BE49-F238E27FC236}">
                  <a16:creationId xmlns:a16="http://schemas.microsoft.com/office/drawing/2014/main" id="{10AC6EBB-71FF-6EB8-9559-F4B220BED9D2}"/>
                </a:ext>
              </a:extLst>
            </p:cNvPr>
            <p:cNvCxnSpPr/>
            <p:nvPr/>
          </p:nvCxnSpPr>
          <p:spPr>
            <a:xfrm>
              <a:off x="0" y="5414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42">
              <a:extLst>
                <a:ext uri="{FF2B5EF4-FFF2-40B4-BE49-F238E27FC236}">
                  <a16:creationId xmlns:a16="http://schemas.microsoft.com/office/drawing/2014/main" id="{4CAA9650-2B51-9175-3844-76C1A3C93BA5}"/>
                </a:ext>
              </a:extLst>
            </p:cNvPr>
            <p:cNvCxnSpPr/>
            <p:nvPr/>
          </p:nvCxnSpPr>
          <p:spPr>
            <a:xfrm>
              <a:off x="0" y="10760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42">
              <a:extLst>
                <a:ext uri="{FF2B5EF4-FFF2-40B4-BE49-F238E27FC236}">
                  <a16:creationId xmlns:a16="http://schemas.microsoft.com/office/drawing/2014/main" id="{5F9C749E-E009-4617-FAB0-86BCA691CEE8}"/>
                </a:ext>
              </a:extLst>
            </p:cNvPr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42">
              <a:extLst>
                <a:ext uri="{FF2B5EF4-FFF2-40B4-BE49-F238E27FC236}">
                  <a16:creationId xmlns:a16="http://schemas.microsoft.com/office/drawing/2014/main" id="{1ED97EB7-B148-B66C-5CE6-C3CD525A176A}"/>
                </a:ext>
              </a:extLst>
            </p:cNvPr>
            <p:cNvCxnSpPr/>
            <p:nvPr/>
          </p:nvCxnSpPr>
          <p:spPr>
            <a:xfrm>
              <a:off x="5278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42">
              <a:extLst>
                <a:ext uri="{FF2B5EF4-FFF2-40B4-BE49-F238E27FC236}">
                  <a16:creationId xmlns:a16="http://schemas.microsoft.com/office/drawing/2014/main" id="{E064A90C-68CE-291B-4ED1-4D9742845AAB}"/>
                </a:ext>
              </a:extLst>
            </p:cNvPr>
            <p:cNvCxnSpPr/>
            <p:nvPr/>
          </p:nvCxnSpPr>
          <p:spPr>
            <a:xfrm>
              <a:off x="10556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42">
              <a:extLst>
                <a:ext uri="{FF2B5EF4-FFF2-40B4-BE49-F238E27FC236}">
                  <a16:creationId xmlns:a16="http://schemas.microsoft.com/office/drawing/2014/main" id="{FB689D53-FCB3-BBAA-6ED3-CA74A54E8756}"/>
                </a:ext>
              </a:extLst>
            </p:cNvPr>
            <p:cNvCxnSpPr/>
            <p:nvPr/>
          </p:nvCxnSpPr>
          <p:spPr>
            <a:xfrm>
              <a:off x="15765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42">
              <a:extLst>
                <a:ext uri="{FF2B5EF4-FFF2-40B4-BE49-F238E27FC236}">
                  <a16:creationId xmlns:a16="http://schemas.microsoft.com/office/drawing/2014/main" id="{3473BDFA-A4F8-3BB0-D75A-A99401813C6F}"/>
                </a:ext>
              </a:extLst>
            </p:cNvPr>
            <p:cNvCxnSpPr/>
            <p:nvPr/>
          </p:nvCxnSpPr>
          <p:spPr>
            <a:xfrm>
              <a:off x="21043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42">
              <a:extLst>
                <a:ext uri="{FF2B5EF4-FFF2-40B4-BE49-F238E27FC236}">
                  <a16:creationId xmlns:a16="http://schemas.microsoft.com/office/drawing/2014/main" id="{B002CA98-3E15-0AD0-D24C-8CAA8BADD59F}"/>
                </a:ext>
              </a:extLst>
            </p:cNvPr>
            <p:cNvCxnSpPr/>
            <p:nvPr/>
          </p:nvCxnSpPr>
          <p:spPr>
            <a:xfrm>
              <a:off x="26253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42">
              <a:extLst>
                <a:ext uri="{FF2B5EF4-FFF2-40B4-BE49-F238E27FC236}">
                  <a16:creationId xmlns:a16="http://schemas.microsoft.com/office/drawing/2014/main" id="{49973DB9-61A2-77B3-1A41-85D1216B732F}"/>
                </a:ext>
              </a:extLst>
            </p:cNvPr>
            <p:cNvCxnSpPr/>
            <p:nvPr/>
          </p:nvCxnSpPr>
          <p:spPr>
            <a:xfrm>
              <a:off x="31531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42">
              <a:extLst>
                <a:ext uri="{FF2B5EF4-FFF2-40B4-BE49-F238E27FC236}">
                  <a16:creationId xmlns:a16="http://schemas.microsoft.com/office/drawing/2014/main" id="{AFD02831-C996-AD8F-2147-C539C7A43EB8}"/>
                </a:ext>
              </a:extLst>
            </p:cNvPr>
            <p:cNvCxnSpPr/>
            <p:nvPr/>
          </p:nvCxnSpPr>
          <p:spPr>
            <a:xfrm>
              <a:off x="36740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42">
              <a:extLst>
                <a:ext uri="{FF2B5EF4-FFF2-40B4-BE49-F238E27FC236}">
                  <a16:creationId xmlns:a16="http://schemas.microsoft.com/office/drawing/2014/main" id="{F6B849C4-A877-0285-6A4F-109D738B3607}"/>
                </a:ext>
              </a:extLst>
            </p:cNvPr>
            <p:cNvCxnSpPr/>
            <p:nvPr/>
          </p:nvCxnSpPr>
          <p:spPr>
            <a:xfrm>
              <a:off x="42018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42">
              <a:extLst>
                <a:ext uri="{FF2B5EF4-FFF2-40B4-BE49-F238E27FC236}">
                  <a16:creationId xmlns:a16="http://schemas.microsoft.com/office/drawing/2014/main" id="{1D177869-33A9-563F-4C45-8410F199B456}"/>
                </a:ext>
              </a:extLst>
            </p:cNvPr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2">
              <a:extLst>
                <a:ext uri="{FF2B5EF4-FFF2-40B4-BE49-F238E27FC236}">
                  <a16:creationId xmlns:a16="http://schemas.microsoft.com/office/drawing/2014/main" id="{7C0B750C-285F-D243-F834-77BE3F2E2C54}"/>
                </a:ext>
              </a:extLst>
            </p:cNvPr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1" name="Google Shape;571;p42">
            <a:extLst>
              <a:ext uri="{FF2B5EF4-FFF2-40B4-BE49-F238E27FC236}">
                <a16:creationId xmlns:a16="http://schemas.microsoft.com/office/drawing/2014/main" id="{61A06651-383E-6D50-E52D-5055B40869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8345" y="393476"/>
            <a:ext cx="5745883" cy="8985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Feature Overview</a:t>
            </a:r>
          </a:p>
        </p:txBody>
      </p:sp>
      <p:sp>
        <p:nvSpPr>
          <p:cNvPr id="572" name="Google Shape;572;p42">
            <a:extLst>
              <a:ext uri="{FF2B5EF4-FFF2-40B4-BE49-F238E27FC236}">
                <a16:creationId xmlns:a16="http://schemas.microsoft.com/office/drawing/2014/main" id="{108DE6DC-2B70-EAB9-B3EF-E73C6EC6F38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95488" y="1677249"/>
            <a:ext cx="5745881" cy="17944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b="1"/>
              <a:t>Student Scoring</a:t>
            </a:r>
            <a:r>
              <a:rPr lang="en-US"/>
              <a:t>:  AI-powered evaluation of essays, academics, and risk factors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 b="1"/>
              <a:t>Batch Processing</a:t>
            </a:r>
            <a:r>
              <a:rPr lang="en-US"/>
              <a:t>: Multi-PDF support for efficient evaluation of multiple applications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 b="1"/>
              <a:t>Fraud Detection</a:t>
            </a:r>
            <a:r>
              <a:rPr lang="en-US"/>
              <a:t>: Financial and transcript document screening with anomaly detection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 b="1"/>
              <a:t>Result Presentation</a:t>
            </a:r>
            <a:r>
              <a:rPr lang="en-US"/>
              <a:t>: Clear breakdown of positive attributes, risk factors, and final scores</a:t>
            </a:r>
            <a:endParaRPr/>
          </a:p>
        </p:txBody>
      </p:sp>
      <p:grpSp>
        <p:nvGrpSpPr>
          <p:cNvPr id="573" name="Google Shape;573;p42">
            <a:extLst>
              <a:ext uri="{FF2B5EF4-FFF2-40B4-BE49-F238E27FC236}">
                <a16:creationId xmlns:a16="http://schemas.microsoft.com/office/drawing/2014/main" id="{3C49DFFD-0A24-426E-CBDD-743F34EFB012}"/>
              </a:ext>
            </a:extLst>
          </p:cNvPr>
          <p:cNvGrpSpPr/>
          <p:nvPr/>
        </p:nvGrpSpPr>
        <p:grpSpPr>
          <a:xfrm flipH="1">
            <a:off x="6936950" y="3937575"/>
            <a:ext cx="813900" cy="818100"/>
            <a:chOff x="8014675" y="343325"/>
            <a:chExt cx="813900" cy="818100"/>
          </a:xfrm>
        </p:grpSpPr>
        <p:sp>
          <p:nvSpPr>
            <p:cNvPr id="574" name="Google Shape;574;p42">
              <a:extLst>
                <a:ext uri="{FF2B5EF4-FFF2-40B4-BE49-F238E27FC236}">
                  <a16:creationId xmlns:a16="http://schemas.microsoft.com/office/drawing/2014/main" id="{1BC31C3E-7AF3-CD2A-20FE-C88981AC808E}"/>
                </a:ext>
              </a:extLst>
            </p:cNvPr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2">
              <a:extLst>
                <a:ext uri="{FF2B5EF4-FFF2-40B4-BE49-F238E27FC236}">
                  <a16:creationId xmlns:a16="http://schemas.microsoft.com/office/drawing/2014/main" id="{718BE74C-64B0-76F1-2017-156EBA67D213}"/>
                </a:ext>
              </a:extLst>
            </p:cNvPr>
            <p:cNvSpPr/>
            <p:nvPr/>
          </p:nvSpPr>
          <p:spPr>
            <a:xfrm rot="-5400000">
              <a:off x="8012575" y="345425"/>
              <a:ext cx="818100" cy="8139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42">
            <a:extLst>
              <a:ext uri="{FF2B5EF4-FFF2-40B4-BE49-F238E27FC236}">
                <a16:creationId xmlns:a16="http://schemas.microsoft.com/office/drawing/2014/main" id="{222303E0-1094-3944-B83E-92A8E7E02901}"/>
              </a:ext>
            </a:extLst>
          </p:cNvPr>
          <p:cNvGrpSpPr/>
          <p:nvPr/>
        </p:nvGrpSpPr>
        <p:grpSpPr>
          <a:xfrm rot="-5400000">
            <a:off x="-251725" y="3299300"/>
            <a:ext cx="2278800" cy="330600"/>
            <a:chOff x="722375" y="4604000"/>
            <a:chExt cx="2278800" cy="330600"/>
          </a:xfrm>
        </p:grpSpPr>
        <p:sp>
          <p:nvSpPr>
            <p:cNvPr id="577" name="Google Shape;577;p42">
              <a:extLst>
                <a:ext uri="{FF2B5EF4-FFF2-40B4-BE49-F238E27FC236}">
                  <a16:creationId xmlns:a16="http://schemas.microsoft.com/office/drawing/2014/main" id="{70251320-172B-17FB-B674-F9C30BB242F4}"/>
                </a:ext>
              </a:extLst>
            </p:cNvPr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2">
              <a:extLst>
                <a:ext uri="{FF2B5EF4-FFF2-40B4-BE49-F238E27FC236}">
                  <a16:creationId xmlns:a16="http://schemas.microsoft.com/office/drawing/2014/main" id="{7D79318E-FC93-4E94-8254-765FD83DFDF1}"/>
                </a:ext>
              </a:extLst>
            </p:cNvPr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2">
            <a:extLst>
              <a:ext uri="{FF2B5EF4-FFF2-40B4-BE49-F238E27FC236}">
                <a16:creationId xmlns:a16="http://schemas.microsoft.com/office/drawing/2014/main" id="{18566D0B-482C-F3D6-61C2-7DF9B15B68F1}"/>
              </a:ext>
            </a:extLst>
          </p:cNvPr>
          <p:cNvSpPr/>
          <p:nvPr/>
        </p:nvSpPr>
        <p:spPr>
          <a:xfrm>
            <a:off x="8120213" y="251450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2">
            <a:extLst>
              <a:ext uri="{FF2B5EF4-FFF2-40B4-BE49-F238E27FC236}">
                <a16:creationId xmlns:a16="http://schemas.microsoft.com/office/drawing/2014/main" id="{48D7E4F0-02A2-BC59-C98F-D89D1135867C}"/>
              </a:ext>
            </a:extLst>
          </p:cNvPr>
          <p:cNvSpPr/>
          <p:nvPr/>
        </p:nvSpPr>
        <p:spPr>
          <a:xfrm rot="480000">
            <a:off x="1592118" y="-271016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9355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C60A8-C599-F10E-2C00-C3A704EF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Live 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115FD-164A-F387-3A08-17C5B8743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6900" y="2368925"/>
            <a:ext cx="6010200" cy="399189"/>
          </a:xfrm>
        </p:spPr>
        <p:txBody>
          <a:bodyPr/>
          <a:lstStyle/>
          <a:p>
            <a:r>
              <a:rPr lang="en-US"/>
              <a:t>International Application Rating Algorithm</a:t>
            </a:r>
          </a:p>
        </p:txBody>
      </p:sp>
    </p:spTree>
    <p:extLst>
      <p:ext uri="{BB962C8B-B14F-4D97-AF65-F5344CB8AC3E}">
        <p14:creationId xmlns:p14="http://schemas.microsoft.com/office/powerpoint/2010/main" val="420927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>
          <a:extLst>
            <a:ext uri="{FF2B5EF4-FFF2-40B4-BE49-F238E27FC236}">
              <a16:creationId xmlns:a16="http://schemas.microsoft.com/office/drawing/2014/main" id="{5CDA1F3E-9647-2090-CCAA-BFA1F820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2">
            <a:extLst>
              <a:ext uri="{FF2B5EF4-FFF2-40B4-BE49-F238E27FC236}">
                <a16:creationId xmlns:a16="http://schemas.microsoft.com/office/drawing/2014/main" id="{7B5BE660-B282-06EF-6399-F4631F835E20}"/>
              </a:ext>
            </a:extLst>
          </p:cNvPr>
          <p:cNvGrpSpPr/>
          <p:nvPr/>
        </p:nvGrpSpPr>
        <p:grpSpPr>
          <a:xfrm flipH="1">
            <a:off x="5728737" y="0"/>
            <a:ext cx="3415264" cy="2172858"/>
            <a:chOff x="0" y="3"/>
            <a:chExt cx="4201850" cy="2673300"/>
          </a:xfrm>
        </p:grpSpPr>
        <p:cxnSp>
          <p:nvCxnSpPr>
            <p:cNvPr id="558" name="Google Shape;558;p42">
              <a:extLst>
                <a:ext uri="{FF2B5EF4-FFF2-40B4-BE49-F238E27FC236}">
                  <a16:creationId xmlns:a16="http://schemas.microsoft.com/office/drawing/2014/main" id="{307D0C1A-73B7-C3CD-F111-ABFF8CB112FE}"/>
                </a:ext>
              </a:extLst>
            </p:cNvPr>
            <p:cNvCxnSpPr/>
            <p:nvPr/>
          </p:nvCxnSpPr>
          <p:spPr>
            <a:xfrm>
              <a:off x="0" y="5414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42">
              <a:extLst>
                <a:ext uri="{FF2B5EF4-FFF2-40B4-BE49-F238E27FC236}">
                  <a16:creationId xmlns:a16="http://schemas.microsoft.com/office/drawing/2014/main" id="{A5DF8552-CD18-C5CA-FAB3-8863100A53E2}"/>
                </a:ext>
              </a:extLst>
            </p:cNvPr>
            <p:cNvCxnSpPr/>
            <p:nvPr/>
          </p:nvCxnSpPr>
          <p:spPr>
            <a:xfrm>
              <a:off x="0" y="10760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42">
              <a:extLst>
                <a:ext uri="{FF2B5EF4-FFF2-40B4-BE49-F238E27FC236}">
                  <a16:creationId xmlns:a16="http://schemas.microsoft.com/office/drawing/2014/main" id="{01A62593-2619-57C7-8CFF-3FFC30EAEAEB}"/>
                </a:ext>
              </a:extLst>
            </p:cNvPr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42">
              <a:extLst>
                <a:ext uri="{FF2B5EF4-FFF2-40B4-BE49-F238E27FC236}">
                  <a16:creationId xmlns:a16="http://schemas.microsoft.com/office/drawing/2014/main" id="{2851C336-523D-D60A-258C-A1DD0D7CAA65}"/>
                </a:ext>
              </a:extLst>
            </p:cNvPr>
            <p:cNvCxnSpPr/>
            <p:nvPr/>
          </p:nvCxnSpPr>
          <p:spPr>
            <a:xfrm>
              <a:off x="5278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42">
              <a:extLst>
                <a:ext uri="{FF2B5EF4-FFF2-40B4-BE49-F238E27FC236}">
                  <a16:creationId xmlns:a16="http://schemas.microsoft.com/office/drawing/2014/main" id="{697B812F-77C0-205B-6C34-2A0D84AE4F13}"/>
                </a:ext>
              </a:extLst>
            </p:cNvPr>
            <p:cNvCxnSpPr/>
            <p:nvPr/>
          </p:nvCxnSpPr>
          <p:spPr>
            <a:xfrm>
              <a:off x="10556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42">
              <a:extLst>
                <a:ext uri="{FF2B5EF4-FFF2-40B4-BE49-F238E27FC236}">
                  <a16:creationId xmlns:a16="http://schemas.microsoft.com/office/drawing/2014/main" id="{7B5DB1F1-BB95-2EB2-7B3C-C17791B2E5D0}"/>
                </a:ext>
              </a:extLst>
            </p:cNvPr>
            <p:cNvCxnSpPr/>
            <p:nvPr/>
          </p:nvCxnSpPr>
          <p:spPr>
            <a:xfrm>
              <a:off x="15765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42">
              <a:extLst>
                <a:ext uri="{FF2B5EF4-FFF2-40B4-BE49-F238E27FC236}">
                  <a16:creationId xmlns:a16="http://schemas.microsoft.com/office/drawing/2014/main" id="{A638A9B1-5D36-F622-BD5E-3754EFE8E53C}"/>
                </a:ext>
              </a:extLst>
            </p:cNvPr>
            <p:cNvCxnSpPr/>
            <p:nvPr/>
          </p:nvCxnSpPr>
          <p:spPr>
            <a:xfrm>
              <a:off x="21043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42">
              <a:extLst>
                <a:ext uri="{FF2B5EF4-FFF2-40B4-BE49-F238E27FC236}">
                  <a16:creationId xmlns:a16="http://schemas.microsoft.com/office/drawing/2014/main" id="{CAF5780B-17C5-9A36-5C4E-20BB977BC547}"/>
                </a:ext>
              </a:extLst>
            </p:cNvPr>
            <p:cNvCxnSpPr/>
            <p:nvPr/>
          </p:nvCxnSpPr>
          <p:spPr>
            <a:xfrm>
              <a:off x="26253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42">
              <a:extLst>
                <a:ext uri="{FF2B5EF4-FFF2-40B4-BE49-F238E27FC236}">
                  <a16:creationId xmlns:a16="http://schemas.microsoft.com/office/drawing/2014/main" id="{704169B0-7284-13AE-6F0B-4001E751E912}"/>
                </a:ext>
              </a:extLst>
            </p:cNvPr>
            <p:cNvCxnSpPr/>
            <p:nvPr/>
          </p:nvCxnSpPr>
          <p:spPr>
            <a:xfrm>
              <a:off x="31531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42">
              <a:extLst>
                <a:ext uri="{FF2B5EF4-FFF2-40B4-BE49-F238E27FC236}">
                  <a16:creationId xmlns:a16="http://schemas.microsoft.com/office/drawing/2014/main" id="{0F65AAE3-6799-D3C4-4FE6-9D40A5FD0CFC}"/>
                </a:ext>
              </a:extLst>
            </p:cNvPr>
            <p:cNvCxnSpPr/>
            <p:nvPr/>
          </p:nvCxnSpPr>
          <p:spPr>
            <a:xfrm>
              <a:off x="36740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42">
              <a:extLst>
                <a:ext uri="{FF2B5EF4-FFF2-40B4-BE49-F238E27FC236}">
                  <a16:creationId xmlns:a16="http://schemas.microsoft.com/office/drawing/2014/main" id="{A714282F-B897-6DBF-33F8-7A79A53C6785}"/>
                </a:ext>
              </a:extLst>
            </p:cNvPr>
            <p:cNvCxnSpPr/>
            <p:nvPr/>
          </p:nvCxnSpPr>
          <p:spPr>
            <a:xfrm>
              <a:off x="42018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42">
              <a:extLst>
                <a:ext uri="{FF2B5EF4-FFF2-40B4-BE49-F238E27FC236}">
                  <a16:creationId xmlns:a16="http://schemas.microsoft.com/office/drawing/2014/main" id="{992A15BA-4750-653F-4C8E-FF15035EF8B4}"/>
                </a:ext>
              </a:extLst>
            </p:cNvPr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2">
              <a:extLst>
                <a:ext uri="{FF2B5EF4-FFF2-40B4-BE49-F238E27FC236}">
                  <a16:creationId xmlns:a16="http://schemas.microsoft.com/office/drawing/2014/main" id="{8EC0D43C-138B-D0B0-64BB-C38178D2DCF3}"/>
                </a:ext>
              </a:extLst>
            </p:cNvPr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1" name="Google Shape;571;p42">
            <a:extLst>
              <a:ext uri="{FF2B5EF4-FFF2-40B4-BE49-F238E27FC236}">
                <a16:creationId xmlns:a16="http://schemas.microsoft.com/office/drawing/2014/main" id="{E5EDCDAD-7C4C-ADF9-D9A4-74DF5559B1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6446" y="384159"/>
            <a:ext cx="6010200" cy="8985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User Interface</a:t>
            </a:r>
            <a:endParaRPr/>
          </a:p>
        </p:txBody>
      </p:sp>
      <p:sp>
        <p:nvSpPr>
          <p:cNvPr id="572" name="Google Shape;572;p42">
            <a:extLst>
              <a:ext uri="{FF2B5EF4-FFF2-40B4-BE49-F238E27FC236}">
                <a16:creationId xmlns:a16="http://schemas.microsoft.com/office/drawing/2014/main" id="{8FEA0006-B4E8-CA04-189E-B0F4C6E433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81470" y="1585840"/>
            <a:ext cx="6381674" cy="2723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b="1"/>
              <a:t>Ease of Use</a:t>
            </a:r>
            <a:r>
              <a:rPr lang="en-US"/>
              <a:t>: Intuitive interface for admins to input data and upload documents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 b="1"/>
              <a:t>Actionable Insights</a:t>
            </a:r>
            <a:r>
              <a:rPr lang="en-US"/>
              <a:t>: Students’ risk and positive factors clearly displayed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 b="1"/>
              <a:t>Decision Support</a:t>
            </a:r>
            <a:r>
              <a:rPr lang="en-US"/>
              <a:t>: Helps admissions team make informed choices with AI-assisted scoring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 b="1"/>
              <a:t>Feedback Loop</a:t>
            </a:r>
            <a:r>
              <a:rPr lang="en-US"/>
              <a:t>: Results can be exported for reporting or integrated into existing workflows</a:t>
            </a:r>
            <a:endParaRPr/>
          </a:p>
        </p:txBody>
      </p:sp>
      <p:grpSp>
        <p:nvGrpSpPr>
          <p:cNvPr id="573" name="Google Shape;573;p42">
            <a:extLst>
              <a:ext uri="{FF2B5EF4-FFF2-40B4-BE49-F238E27FC236}">
                <a16:creationId xmlns:a16="http://schemas.microsoft.com/office/drawing/2014/main" id="{5C984DCE-C9AC-5E20-CBFE-E0D89D68B0EF}"/>
              </a:ext>
            </a:extLst>
          </p:cNvPr>
          <p:cNvGrpSpPr/>
          <p:nvPr/>
        </p:nvGrpSpPr>
        <p:grpSpPr>
          <a:xfrm flipH="1">
            <a:off x="6936950" y="3937575"/>
            <a:ext cx="813900" cy="818100"/>
            <a:chOff x="8014675" y="343325"/>
            <a:chExt cx="813900" cy="818100"/>
          </a:xfrm>
        </p:grpSpPr>
        <p:sp>
          <p:nvSpPr>
            <p:cNvPr id="574" name="Google Shape;574;p42">
              <a:extLst>
                <a:ext uri="{FF2B5EF4-FFF2-40B4-BE49-F238E27FC236}">
                  <a16:creationId xmlns:a16="http://schemas.microsoft.com/office/drawing/2014/main" id="{1AB11F0E-41EB-8680-8FA6-2B6E9D4E90EE}"/>
                </a:ext>
              </a:extLst>
            </p:cNvPr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2">
              <a:extLst>
                <a:ext uri="{FF2B5EF4-FFF2-40B4-BE49-F238E27FC236}">
                  <a16:creationId xmlns:a16="http://schemas.microsoft.com/office/drawing/2014/main" id="{572656C9-E549-37F1-68CD-2DD10B52D974}"/>
                </a:ext>
              </a:extLst>
            </p:cNvPr>
            <p:cNvSpPr/>
            <p:nvPr/>
          </p:nvSpPr>
          <p:spPr>
            <a:xfrm rot="-5400000">
              <a:off x="8012575" y="345425"/>
              <a:ext cx="818100" cy="8139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42">
            <a:extLst>
              <a:ext uri="{FF2B5EF4-FFF2-40B4-BE49-F238E27FC236}">
                <a16:creationId xmlns:a16="http://schemas.microsoft.com/office/drawing/2014/main" id="{97A18BBD-0194-85B9-AE45-595CE3B7C63E}"/>
              </a:ext>
            </a:extLst>
          </p:cNvPr>
          <p:cNvGrpSpPr/>
          <p:nvPr/>
        </p:nvGrpSpPr>
        <p:grpSpPr>
          <a:xfrm rot="-5400000">
            <a:off x="-251725" y="3299300"/>
            <a:ext cx="2278800" cy="330600"/>
            <a:chOff x="722375" y="4604000"/>
            <a:chExt cx="2278800" cy="330600"/>
          </a:xfrm>
        </p:grpSpPr>
        <p:sp>
          <p:nvSpPr>
            <p:cNvPr id="577" name="Google Shape;577;p42">
              <a:extLst>
                <a:ext uri="{FF2B5EF4-FFF2-40B4-BE49-F238E27FC236}">
                  <a16:creationId xmlns:a16="http://schemas.microsoft.com/office/drawing/2014/main" id="{57B964D8-7709-FC6D-32D4-54DE8AE5CC54}"/>
                </a:ext>
              </a:extLst>
            </p:cNvPr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2">
              <a:extLst>
                <a:ext uri="{FF2B5EF4-FFF2-40B4-BE49-F238E27FC236}">
                  <a16:creationId xmlns:a16="http://schemas.microsoft.com/office/drawing/2014/main" id="{6D05F165-53AC-2129-9F05-9AAC36CDBE9F}"/>
                </a:ext>
              </a:extLst>
            </p:cNvPr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2">
            <a:extLst>
              <a:ext uri="{FF2B5EF4-FFF2-40B4-BE49-F238E27FC236}">
                <a16:creationId xmlns:a16="http://schemas.microsoft.com/office/drawing/2014/main" id="{A3F84F54-ECE8-6BB5-7825-732A1B075182}"/>
              </a:ext>
            </a:extLst>
          </p:cNvPr>
          <p:cNvSpPr/>
          <p:nvPr/>
        </p:nvSpPr>
        <p:spPr>
          <a:xfrm>
            <a:off x="8120213" y="251450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2">
            <a:extLst>
              <a:ext uri="{FF2B5EF4-FFF2-40B4-BE49-F238E27FC236}">
                <a16:creationId xmlns:a16="http://schemas.microsoft.com/office/drawing/2014/main" id="{5069BDD7-2C45-20B5-F1A8-267C2FC2B859}"/>
              </a:ext>
            </a:extLst>
          </p:cNvPr>
          <p:cNvSpPr/>
          <p:nvPr/>
        </p:nvSpPr>
        <p:spPr>
          <a:xfrm rot="10800000">
            <a:off x="2013600" y="4308128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724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>
          <a:extLst>
            <a:ext uri="{FF2B5EF4-FFF2-40B4-BE49-F238E27FC236}">
              <a16:creationId xmlns:a16="http://schemas.microsoft.com/office/drawing/2014/main" id="{7E8D1BE9-21C3-3A10-346A-84C58019F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2">
            <a:extLst>
              <a:ext uri="{FF2B5EF4-FFF2-40B4-BE49-F238E27FC236}">
                <a16:creationId xmlns:a16="http://schemas.microsoft.com/office/drawing/2014/main" id="{CBFB3187-AA9E-0B3C-801B-F592E6810F14}"/>
              </a:ext>
            </a:extLst>
          </p:cNvPr>
          <p:cNvGrpSpPr/>
          <p:nvPr/>
        </p:nvGrpSpPr>
        <p:grpSpPr>
          <a:xfrm flipH="1">
            <a:off x="5728737" y="0"/>
            <a:ext cx="3415264" cy="2172858"/>
            <a:chOff x="0" y="3"/>
            <a:chExt cx="4201850" cy="2673300"/>
          </a:xfrm>
        </p:grpSpPr>
        <p:cxnSp>
          <p:nvCxnSpPr>
            <p:cNvPr id="558" name="Google Shape;558;p42">
              <a:extLst>
                <a:ext uri="{FF2B5EF4-FFF2-40B4-BE49-F238E27FC236}">
                  <a16:creationId xmlns:a16="http://schemas.microsoft.com/office/drawing/2014/main" id="{386D03A4-5AFC-5FEF-DE1D-C4477D054716}"/>
                </a:ext>
              </a:extLst>
            </p:cNvPr>
            <p:cNvCxnSpPr/>
            <p:nvPr/>
          </p:nvCxnSpPr>
          <p:spPr>
            <a:xfrm>
              <a:off x="0" y="5414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42">
              <a:extLst>
                <a:ext uri="{FF2B5EF4-FFF2-40B4-BE49-F238E27FC236}">
                  <a16:creationId xmlns:a16="http://schemas.microsoft.com/office/drawing/2014/main" id="{A1381E4F-3D60-8B53-8F65-4A9939DF651B}"/>
                </a:ext>
              </a:extLst>
            </p:cNvPr>
            <p:cNvCxnSpPr/>
            <p:nvPr/>
          </p:nvCxnSpPr>
          <p:spPr>
            <a:xfrm>
              <a:off x="0" y="10760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42">
              <a:extLst>
                <a:ext uri="{FF2B5EF4-FFF2-40B4-BE49-F238E27FC236}">
                  <a16:creationId xmlns:a16="http://schemas.microsoft.com/office/drawing/2014/main" id="{5ECC14B8-7BD3-CAA1-C25C-7F0060DA34BD}"/>
                </a:ext>
              </a:extLst>
            </p:cNvPr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42">
              <a:extLst>
                <a:ext uri="{FF2B5EF4-FFF2-40B4-BE49-F238E27FC236}">
                  <a16:creationId xmlns:a16="http://schemas.microsoft.com/office/drawing/2014/main" id="{0D852942-8FC7-C2C3-DD99-73E5F63212E4}"/>
                </a:ext>
              </a:extLst>
            </p:cNvPr>
            <p:cNvCxnSpPr/>
            <p:nvPr/>
          </p:nvCxnSpPr>
          <p:spPr>
            <a:xfrm>
              <a:off x="5278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42">
              <a:extLst>
                <a:ext uri="{FF2B5EF4-FFF2-40B4-BE49-F238E27FC236}">
                  <a16:creationId xmlns:a16="http://schemas.microsoft.com/office/drawing/2014/main" id="{AC21B330-1011-5855-74C0-E06E6C761764}"/>
                </a:ext>
              </a:extLst>
            </p:cNvPr>
            <p:cNvCxnSpPr/>
            <p:nvPr/>
          </p:nvCxnSpPr>
          <p:spPr>
            <a:xfrm>
              <a:off x="10556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42">
              <a:extLst>
                <a:ext uri="{FF2B5EF4-FFF2-40B4-BE49-F238E27FC236}">
                  <a16:creationId xmlns:a16="http://schemas.microsoft.com/office/drawing/2014/main" id="{E8FBF1AA-F486-9279-14F3-5D3E38474AC0}"/>
                </a:ext>
              </a:extLst>
            </p:cNvPr>
            <p:cNvCxnSpPr/>
            <p:nvPr/>
          </p:nvCxnSpPr>
          <p:spPr>
            <a:xfrm>
              <a:off x="15765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42">
              <a:extLst>
                <a:ext uri="{FF2B5EF4-FFF2-40B4-BE49-F238E27FC236}">
                  <a16:creationId xmlns:a16="http://schemas.microsoft.com/office/drawing/2014/main" id="{AA438075-BDB7-C35A-ABE4-D3B8BB8D9BD1}"/>
                </a:ext>
              </a:extLst>
            </p:cNvPr>
            <p:cNvCxnSpPr/>
            <p:nvPr/>
          </p:nvCxnSpPr>
          <p:spPr>
            <a:xfrm>
              <a:off x="21043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42">
              <a:extLst>
                <a:ext uri="{FF2B5EF4-FFF2-40B4-BE49-F238E27FC236}">
                  <a16:creationId xmlns:a16="http://schemas.microsoft.com/office/drawing/2014/main" id="{B997F27C-CE0B-2D62-94A0-2D0E0AF6135F}"/>
                </a:ext>
              </a:extLst>
            </p:cNvPr>
            <p:cNvCxnSpPr/>
            <p:nvPr/>
          </p:nvCxnSpPr>
          <p:spPr>
            <a:xfrm>
              <a:off x="26253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42">
              <a:extLst>
                <a:ext uri="{FF2B5EF4-FFF2-40B4-BE49-F238E27FC236}">
                  <a16:creationId xmlns:a16="http://schemas.microsoft.com/office/drawing/2014/main" id="{4AD11684-5043-6521-52D0-1CFE4A75AE06}"/>
                </a:ext>
              </a:extLst>
            </p:cNvPr>
            <p:cNvCxnSpPr/>
            <p:nvPr/>
          </p:nvCxnSpPr>
          <p:spPr>
            <a:xfrm>
              <a:off x="31531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42">
              <a:extLst>
                <a:ext uri="{FF2B5EF4-FFF2-40B4-BE49-F238E27FC236}">
                  <a16:creationId xmlns:a16="http://schemas.microsoft.com/office/drawing/2014/main" id="{3294EB82-93FA-333D-2444-F0BC7C2AAB45}"/>
                </a:ext>
              </a:extLst>
            </p:cNvPr>
            <p:cNvCxnSpPr/>
            <p:nvPr/>
          </p:nvCxnSpPr>
          <p:spPr>
            <a:xfrm>
              <a:off x="36740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42">
              <a:extLst>
                <a:ext uri="{FF2B5EF4-FFF2-40B4-BE49-F238E27FC236}">
                  <a16:creationId xmlns:a16="http://schemas.microsoft.com/office/drawing/2014/main" id="{EC393A3C-F746-412A-443D-9DBFD10DF4CC}"/>
                </a:ext>
              </a:extLst>
            </p:cNvPr>
            <p:cNvCxnSpPr/>
            <p:nvPr/>
          </p:nvCxnSpPr>
          <p:spPr>
            <a:xfrm>
              <a:off x="42018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42">
              <a:extLst>
                <a:ext uri="{FF2B5EF4-FFF2-40B4-BE49-F238E27FC236}">
                  <a16:creationId xmlns:a16="http://schemas.microsoft.com/office/drawing/2014/main" id="{31A0883A-EE50-75D4-8E9F-B39F830A7688}"/>
                </a:ext>
              </a:extLst>
            </p:cNvPr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2">
              <a:extLst>
                <a:ext uri="{FF2B5EF4-FFF2-40B4-BE49-F238E27FC236}">
                  <a16:creationId xmlns:a16="http://schemas.microsoft.com/office/drawing/2014/main" id="{E980BC37-A84C-CC98-282D-FFA204C18397}"/>
                </a:ext>
              </a:extLst>
            </p:cNvPr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1" name="Google Shape;571;p42">
            <a:extLst>
              <a:ext uri="{FF2B5EF4-FFF2-40B4-BE49-F238E27FC236}">
                <a16:creationId xmlns:a16="http://schemas.microsoft.com/office/drawing/2014/main" id="{A6F3F559-82E2-6406-2A4C-CB3459281C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6446" y="384159"/>
            <a:ext cx="6010200" cy="8985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572" name="Google Shape;572;p42">
            <a:extLst>
              <a:ext uri="{FF2B5EF4-FFF2-40B4-BE49-F238E27FC236}">
                <a16:creationId xmlns:a16="http://schemas.microsoft.com/office/drawing/2014/main" id="{922E0DDD-18E6-6008-CCCA-489706FAC19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67207" y="1507259"/>
            <a:ext cx="6010200" cy="2723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b="1"/>
              <a:t>Methodology:  </a:t>
            </a:r>
            <a:r>
              <a:rPr lang="en-US"/>
              <a:t>Manual end-to-end tests for scoring, batch processing, and fraud detection</a:t>
            </a:r>
            <a:endParaRPr lang="en-US" b="1"/>
          </a:p>
          <a:p>
            <a:pPr marL="0" indent="0" algn="l"/>
            <a:endParaRPr lang="en-US" b="1"/>
          </a:p>
          <a:p>
            <a:pPr marL="0" indent="0" algn="l"/>
            <a:r>
              <a:rPr lang="en-US" b="1"/>
              <a:t>What We Tested: </a:t>
            </a:r>
            <a:r>
              <a:rPr lang="en-US"/>
              <a:t>Student scoring, batch workflows, financial &amp; transcript fraud, AI fallback</a:t>
            </a:r>
          </a:p>
          <a:p>
            <a:pPr marL="0" indent="0" algn="l"/>
            <a:endParaRPr lang="en-US" b="1"/>
          </a:p>
          <a:p>
            <a:pPr marL="0" indent="0" algn="l"/>
            <a:r>
              <a:rPr lang="en-US" b="1"/>
              <a:t>Key Observations: </a:t>
            </a:r>
            <a:r>
              <a:rPr lang="en-US"/>
              <a:t>Stable flows; fraud labels ~80–85% accurate</a:t>
            </a:r>
          </a:p>
          <a:p>
            <a:pPr marL="0" indent="0" algn="l"/>
            <a:endParaRPr lang="en-US"/>
          </a:p>
          <a:p>
            <a:pPr marL="0" indent="0" algn="l"/>
            <a:r>
              <a:rPr lang="en-US" b="1"/>
              <a:t>Challenges &amp; Future Work: </a:t>
            </a:r>
            <a:r>
              <a:rPr lang="en-US"/>
              <a:t>Add unit and integration tests; expand dataset for better accuracy</a:t>
            </a:r>
          </a:p>
          <a:p>
            <a:pPr marL="0" lvl="0" indent="0"/>
            <a:endParaRPr lang="en-US"/>
          </a:p>
          <a:p>
            <a:pPr marL="0" lvl="0" indent="0"/>
            <a:endParaRPr/>
          </a:p>
        </p:txBody>
      </p:sp>
      <p:grpSp>
        <p:nvGrpSpPr>
          <p:cNvPr id="573" name="Google Shape;573;p42">
            <a:extLst>
              <a:ext uri="{FF2B5EF4-FFF2-40B4-BE49-F238E27FC236}">
                <a16:creationId xmlns:a16="http://schemas.microsoft.com/office/drawing/2014/main" id="{F86E6061-1662-D03E-F9A9-50D64E0CCAEE}"/>
              </a:ext>
            </a:extLst>
          </p:cNvPr>
          <p:cNvGrpSpPr/>
          <p:nvPr/>
        </p:nvGrpSpPr>
        <p:grpSpPr>
          <a:xfrm flipH="1">
            <a:off x="6936950" y="3937575"/>
            <a:ext cx="813900" cy="818100"/>
            <a:chOff x="8014675" y="343325"/>
            <a:chExt cx="813900" cy="818100"/>
          </a:xfrm>
        </p:grpSpPr>
        <p:sp>
          <p:nvSpPr>
            <p:cNvPr id="574" name="Google Shape;574;p42">
              <a:extLst>
                <a:ext uri="{FF2B5EF4-FFF2-40B4-BE49-F238E27FC236}">
                  <a16:creationId xmlns:a16="http://schemas.microsoft.com/office/drawing/2014/main" id="{87CB7DB2-CACC-B275-CDD7-BD4A45397761}"/>
                </a:ext>
              </a:extLst>
            </p:cNvPr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2">
              <a:extLst>
                <a:ext uri="{FF2B5EF4-FFF2-40B4-BE49-F238E27FC236}">
                  <a16:creationId xmlns:a16="http://schemas.microsoft.com/office/drawing/2014/main" id="{944C155A-4F09-28F8-4E9F-8B6F70FEDF89}"/>
                </a:ext>
              </a:extLst>
            </p:cNvPr>
            <p:cNvSpPr/>
            <p:nvPr/>
          </p:nvSpPr>
          <p:spPr>
            <a:xfrm rot="-5400000">
              <a:off x="8012575" y="345425"/>
              <a:ext cx="818100" cy="8139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42">
            <a:extLst>
              <a:ext uri="{FF2B5EF4-FFF2-40B4-BE49-F238E27FC236}">
                <a16:creationId xmlns:a16="http://schemas.microsoft.com/office/drawing/2014/main" id="{F3201F1E-6B14-B6FC-F3FE-9E1D64DF07DB}"/>
              </a:ext>
            </a:extLst>
          </p:cNvPr>
          <p:cNvGrpSpPr/>
          <p:nvPr/>
        </p:nvGrpSpPr>
        <p:grpSpPr>
          <a:xfrm rot="-5400000">
            <a:off x="-251725" y="3299300"/>
            <a:ext cx="2278800" cy="330600"/>
            <a:chOff x="722375" y="4604000"/>
            <a:chExt cx="2278800" cy="330600"/>
          </a:xfrm>
        </p:grpSpPr>
        <p:sp>
          <p:nvSpPr>
            <p:cNvPr id="577" name="Google Shape;577;p42">
              <a:extLst>
                <a:ext uri="{FF2B5EF4-FFF2-40B4-BE49-F238E27FC236}">
                  <a16:creationId xmlns:a16="http://schemas.microsoft.com/office/drawing/2014/main" id="{C9A72491-4CB9-DEF2-4557-BF97427A60B3}"/>
                </a:ext>
              </a:extLst>
            </p:cNvPr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2">
              <a:extLst>
                <a:ext uri="{FF2B5EF4-FFF2-40B4-BE49-F238E27FC236}">
                  <a16:creationId xmlns:a16="http://schemas.microsoft.com/office/drawing/2014/main" id="{1AC8542D-712B-B9E3-D4A2-CFDF984F4177}"/>
                </a:ext>
              </a:extLst>
            </p:cNvPr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2">
            <a:extLst>
              <a:ext uri="{FF2B5EF4-FFF2-40B4-BE49-F238E27FC236}">
                <a16:creationId xmlns:a16="http://schemas.microsoft.com/office/drawing/2014/main" id="{BC012A5D-74AD-3D40-A522-ECC58CD154A7}"/>
              </a:ext>
            </a:extLst>
          </p:cNvPr>
          <p:cNvSpPr/>
          <p:nvPr/>
        </p:nvSpPr>
        <p:spPr>
          <a:xfrm>
            <a:off x="8120213" y="251450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2">
            <a:extLst>
              <a:ext uri="{FF2B5EF4-FFF2-40B4-BE49-F238E27FC236}">
                <a16:creationId xmlns:a16="http://schemas.microsoft.com/office/drawing/2014/main" id="{F2A395F9-EDD3-3CFA-99BF-CE3E5D619455}"/>
              </a:ext>
            </a:extLst>
          </p:cNvPr>
          <p:cNvSpPr/>
          <p:nvPr/>
        </p:nvSpPr>
        <p:spPr>
          <a:xfrm rot="10800000">
            <a:off x="2013600" y="4308128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3017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1693D-74ED-FC34-E292-ECA8A5426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Responsible Use of AI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FF6B6BB-05DB-3639-6044-B7D972835B0C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399722" y="1595909"/>
            <a:ext cx="6334561" cy="2609761"/>
          </a:xfrm>
        </p:spPr>
        <p:txBody>
          <a:bodyPr/>
          <a:lstStyle/>
          <a:p>
            <a:r>
              <a:rPr lang="en-US" sz="1500" b="1"/>
              <a:t>Tools:</a:t>
            </a:r>
            <a:r>
              <a:rPr lang="en-US" sz="1500"/>
              <a:t> ChatGPT, Claude</a:t>
            </a:r>
          </a:p>
          <a:p>
            <a:endParaRPr lang="en-US" sz="1500"/>
          </a:p>
          <a:p>
            <a:r>
              <a:rPr lang="en-US" sz="1500" b="1"/>
              <a:t>Applications:</a:t>
            </a:r>
          </a:p>
          <a:p>
            <a:pPr>
              <a:buFont typeface="Arial"/>
              <a:buChar char="•"/>
            </a:pPr>
            <a:r>
              <a:rPr lang="en-US" sz="1500" i="1"/>
              <a:t>ChatGPT</a:t>
            </a:r>
            <a:r>
              <a:rPr lang="en-US" sz="1500"/>
              <a:t>: Drafted documentation, brainstormed ideas</a:t>
            </a:r>
          </a:p>
          <a:p>
            <a:pPr>
              <a:buFont typeface="Arial"/>
              <a:buChar char="•"/>
            </a:pPr>
            <a:r>
              <a:rPr lang="en-US" sz="1500" i="1"/>
              <a:t>Claude</a:t>
            </a:r>
            <a:r>
              <a:rPr lang="en-US" sz="1500"/>
              <a:t>: Suggested demo code snippets</a:t>
            </a:r>
          </a:p>
          <a:p>
            <a:endParaRPr lang="en-US" sz="1500"/>
          </a:p>
          <a:p>
            <a:r>
              <a:rPr lang="en-US" sz="1500" b="1"/>
              <a:t>Benefits</a:t>
            </a:r>
            <a:r>
              <a:rPr lang="en-US" sz="1500"/>
              <a:t>: Saved development time, improved clarity, enhanced scoring and risk analysis</a:t>
            </a:r>
          </a:p>
          <a:p>
            <a:endParaRPr lang="en-US" sz="1500"/>
          </a:p>
          <a:p>
            <a:r>
              <a:rPr lang="en-US" sz="1500" b="1"/>
              <a:t>Limitations &amp; Verification</a:t>
            </a:r>
            <a:r>
              <a:rPr lang="en-US" sz="1500"/>
              <a:t>: Reviewed AI outputs for accuracy; combined with heuristics for reliability</a:t>
            </a:r>
          </a:p>
        </p:txBody>
      </p:sp>
    </p:spTree>
    <p:extLst>
      <p:ext uri="{BB962C8B-B14F-4D97-AF65-F5344CB8AC3E}">
        <p14:creationId xmlns:p14="http://schemas.microsoft.com/office/powerpoint/2010/main" val="1885567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>
          <a:extLst>
            <a:ext uri="{FF2B5EF4-FFF2-40B4-BE49-F238E27FC236}">
              <a16:creationId xmlns:a16="http://schemas.microsoft.com/office/drawing/2014/main" id="{AFE0DE44-3BAD-DC9C-172C-FE1E26F44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2">
            <a:extLst>
              <a:ext uri="{FF2B5EF4-FFF2-40B4-BE49-F238E27FC236}">
                <a16:creationId xmlns:a16="http://schemas.microsoft.com/office/drawing/2014/main" id="{A79A1AAB-C5FC-26D1-F3C1-30847582AEC4}"/>
              </a:ext>
            </a:extLst>
          </p:cNvPr>
          <p:cNvGrpSpPr/>
          <p:nvPr/>
        </p:nvGrpSpPr>
        <p:grpSpPr>
          <a:xfrm flipH="1">
            <a:off x="5728737" y="0"/>
            <a:ext cx="3415264" cy="2172858"/>
            <a:chOff x="0" y="3"/>
            <a:chExt cx="4201850" cy="2673300"/>
          </a:xfrm>
        </p:grpSpPr>
        <p:cxnSp>
          <p:nvCxnSpPr>
            <p:cNvPr id="558" name="Google Shape;558;p42">
              <a:extLst>
                <a:ext uri="{FF2B5EF4-FFF2-40B4-BE49-F238E27FC236}">
                  <a16:creationId xmlns:a16="http://schemas.microsoft.com/office/drawing/2014/main" id="{6FE55F2E-104B-7256-F33D-A132E268F846}"/>
                </a:ext>
              </a:extLst>
            </p:cNvPr>
            <p:cNvCxnSpPr/>
            <p:nvPr/>
          </p:nvCxnSpPr>
          <p:spPr>
            <a:xfrm>
              <a:off x="0" y="5414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42">
              <a:extLst>
                <a:ext uri="{FF2B5EF4-FFF2-40B4-BE49-F238E27FC236}">
                  <a16:creationId xmlns:a16="http://schemas.microsoft.com/office/drawing/2014/main" id="{D7948D4B-A656-0310-FC52-F9EEE28AD7B7}"/>
                </a:ext>
              </a:extLst>
            </p:cNvPr>
            <p:cNvCxnSpPr/>
            <p:nvPr/>
          </p:nvCxnSpPr>
          <p:spPr>
            <a:xfrm>
              <a:off x="0" y="10760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42">
              <a:extLst>
                <a:ext uri="{FF2B5EF4-FFF2-40B4-BE49-F238E27FC236}">
                  <a16:creationId xmlns:a16="http://schemas.microsoft.com/office/drawing/2014/main" id="{5DF9BA2C-F1C8-C011-4B49-4CE71A7CF8D5}"/>
                </a:ext>
              </a:extLst>
            </p:cNvPr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42">
              <a:extLst>
                <a:ext uri="{FF2B5EF4-FFF2-40B4-BE49-F238E27FC236}">
                  <a16:creationId xmlns:a16="http://schemas.microsoft.com/office/drawing/2014/main" id="{288D026A-85A9-4B7F-9F3F-BD1458D82741}"/>
                </a:ext>
              </a:extLst>
            </p:cNvPr>
            <p:cNvCxnSpPr/>
            <p:nvPr/>
          </p:nvCxnSpPr>
          <p:spPr>
            <a:xfrm>
              <a:off x="5278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42">
              <a:extLst>
                <a:ext uri="{FF2B5EF4-FFF2-40B4-BE49-F238E27FC236}">
                  <a16:creationId xmlns:a16="http://schemas.microsoft.com/office/drawing/2014/main" id="{9BF8C78F-7509-EF66-DF39-49846BB5031A}"/>
                </a:ext>
              </a:extLst>
            </p:cNvPr>
            <p:cNvCxnSpPr/>
            <p:nvPr/>
          </p:nvCxnSpPr>
          <p:spPr>
            <a:xfrm>
              <a:off x="10556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42">
              <a:extLst>
                <a:ext uri="{FF2B5EF4-FFF2-40B4-BE49-F238E27FC236}">
                  <a16:creationId xmlns:a16="http://schemas.microsoft.com/office/drawing/2014/main" id="{426DF3D7-67BA-9DCE-AC02-C2E9BDC73F16}"/>
                </a:ext>
              </a:extLst>
            </p:cNvPr>
            <p:cNvCxnSpPr/>
            <p:nvPr/>
          </p:nvCxnSpPr>
          <p:spPr>
            <a:xfrm>
              <a:off x="15765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42">
              <a:extLst>
                <a:ext uri="{FF2B5EF4-FFF2-40B4-BE49-F238E27FC236}">
                  <a16:creationId xmlns:a16="http://schemas.microsoft.com/office/drawing/2014/main" id="{4880CE2B-1F03-5DBA-DD8C-8E8EB6812114}"/>
                </a:ext>
              </a:extLst>
            </p:cNvPr>
            <p:cNvCxnSpPr/>
            <p:nvPr/>
          </p:nvCxnSpPr>
          <p:spPr>
            <a:xfrm>
              <a:off x="21043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42">
              <a:extLst>
                <a:ext uri="{FF2B5EF4-FFF2-40B4-BE49-F238E27FC236}">
                  <a16:creationId xmlns:a16="http://schemas.microsoft.com/office/drawing/2014/main" id="{3CFFC1EE-E23F-B38E-A2AB-88EFDDAE0C7A}"/>
                </a:ext>
              </a:extLst>
            </p:cNvPr>
            <p:cNvCxnSpPr/>
            <p:nvPr/>
          </p:nvCxnSpPr>
          <p:spPr>
            <a:xfrm>
              <a:off x="26253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42">
              <a:extLst>
                <a:ext uri="{FF2B5EF4-FFF2-40B4-BE49-F238E27FC236}">
                  <a16:creationId xmlns:a16="http://schemas.microsoft.com/office/drawing/2014/main" id="{181FFD51-D97A-BF90-0C18-2E21DA97889B}"/>
                </a:ext>
              </a:extLst>
            </p:cNvPr>
            <p:cNvCxnSpPr/>
            <p:nvPr/>
          </p:nvCxnSpPr>
          <p:spPr>
            <a:xfrm>
              <a:off x="31531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42">
              <a:extLst>
                <a:ext uri="{FF2B5EF4-FFF2-40B4-BE49-F238E27FC236}">
                  <a16:creationId xmlns:a16="http://schemas.microsoft.com/office/drawing/2014/main" id="{2BCB068A-18A3-D40B-0658-9F742473FCC2}"/>
                </a:ext>
              </a:extLst>
            </p:cNvPr>
            <p:cNvCxnSpPr/>
            <p:nvPr/>
          </p:nvCxnSpPr>
          <p:spPr>
            <a:xfrm>
              <a:off x="36740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42">
              <a:extLst>
                <a:ext uri="{FF2B5EF4-FFF2-40B4-BE49-F238E27FC236}">
                  <a16:creationId xmlns:a16="http://schemas.microsoft.com/office/drawing/2014/main" id="{6D433985-CD45-6CCC-6065-7621D6939B63}"/>
                </a:ext>
              </a:extLst>
            </p:cNvPr>
            <p:cNvCxnSpPr/>
            <p:nvPr/>
          </p:nvCxnSpPr>
          <p:spPr>
            <a:xfrm>
              <a:off x="42018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42">
              <a:extLst>
                <a:ext uri="{FF2B5EF4-FFF2-40B4-BE49-F238E27FC236}">
                  <a16:creationId xmlns:a16="http://schemas.microsoft.com/office/drawing/2014/main" id="{A6BEF915-FB78-258A-82D8-554E624BD51A}"/>
                </a:ext>
              </a:extLst>
            </p:cNvPr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2">
              <a:extLst>
                <a:ext uri="{FF2B5EF4-FFF2-40B4-BE49-F238E27FC236}">
                  <a16:creationId xmlns:a16="http://schemas.microsoft.com/office/drawing/2014/main" id="{409C912B-69D9-7E0A-C0F4-5185277769E5}"/>
                </a:ext>
              </a:extLst>
            </p:cNvPr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1" name="Google Shape;571;p42">
            <a:extLst>
              <a:ext uri="{FF2B5EF4-FFF2-40B4-BE49-F238E27FC236}">
                <a16:creationId xmlns:a16="http://schemas.microsoft.com/office/drawing/2014/main" id="{700C333A-D6AB-809E-9AC9-AF434C4A3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2619" y="339951"/>
            <a:ext cx="5938763" cy="10271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N</a:t>
            </a:r>
            <a:r>
              <a:rPr lang="en" sz="2800"/>
              <a:t>ext Semester Plan &amp; Deliverables</a:t>
            </a:r>
            <a:endParaRPr lang="en-US" sz="2800"/>
          </a:p>
        </p:txBody>
      </p:sp>
      <p:sp>
        <p:nvSpPr>
          <p:cNvPr id="572" name="Google Shape;572;p42">
            <a:extLst>
              <a:ext uri="{FF2B5EF4-FFF2-40B4-BE49-F238E27FC236}">
                <a16:creationId xmlns:a16="http://schemas.microsoft.com/office/drawing/2014/main" id="{71B76FBA-B70C-83E7-45B9-B3BF1EC317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95475" y="1457724"/>
            <a:ext cx="5953050" cy="3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1"/>
              <a:t>Functional:</a:t>
            </a:r>
          </a:p>
          <a:p>
            <a:pPr algn="l">
              <a:buFont typeface="Arial"/>
              <a:buChar char="•"/>
            </a:pPr>
            <a:r>
              <a:rPr lang="en-US" sz="1400"/>
              <a:t>Enhanced financial &amp; transcript fraud detectors</a:t>
            </a:r>
          </a:p>
          <a:p>
            <a:pPr algn="l">
              <a:buFont typeface="Arial"/>
              <a:buChar char="•"/>
            </a:pPr>
            <a:r>
              <a:rPr lang="en-US" sz="1400"/>
              <a:t>Exportable, explainable reports</a:t>
            </a:r>
          </a:p>
          <a:p>
            <a:pPr algn="l">
              <a:buFont typeface="Arial"/>
              <a:buChar char="•"/>
            </a:pPr>
            <a:r>
              <a:rPr lang="en-US" sz="1400"/>
              <a:t>Improved OCR accuracy</a:t>
            </a:r>
          </a:p>
          <a:p>
            <a:pPr algn="l">
              <a:buFont typeface="Arial"/>
              <a:buChar char="•"/>
            </a:pPr>
            <a:r>
              <a:rPr lang="en-US" sz="1400"/>
              <a:t>Slate workflow integration</a:t>
            </a:r>
          </a:p>
          <a:p>
            <a:pPr algn="l"/>
            <a:endParaRPr lang="en-US"/>
          </a:p>
          <a:p>
            <a:pPr algn="l"/>
            <a:r>
              <a:rPr lang="en-US" b="1"/>
              <a:t>Non-Functional:</a:t>
            </a:r>
          </a:p>
          <a:p>
            <a:pPr algn="l">
              <a:buFont typeface="Arial"/>
              <a:buChar char="•"/>
            </a:pPr>
            <a:r>
              <a:rPr lang="en-US" sz="1400"/>
              <a:t>Faster processing &amp; better scalability</a:t>
            </a:r>
          </a:p>
          <a:p>
            <a:pPr algn="l">
              <a:buFont typeface="Arial"/>
              <a:buChar char="•"/>
            </a:pPr>
            <a:r>
              <a:rPr lang="en-US" sz="1400"/>
              <a:t>Higher reliability, fewer false positives</a:t>
            </a:r>
          </a:p>
          <a:p>
            <a:pPr algn="l"/>
            <a:endParaRPr lang="en-US"/>
          </a:p>
          <a:p>
            <a:pPr algn="l"/>
            <a:r>
              <a:rPr lang="en-US" b="1"/>
              <a:t>Timeline:</a:t>
            </a:r>
          </a:p>
          <a:p>
            <a:pPr algn="l">
              <a:buFont typeface="Arial"/>
              <a:buChar char="•"/>
            </a:pPr>
            <a:r>
              <a:rPr lang="en-US" sz="1400"/>
              <a:t>Jan–Feb: Refine detectors, improve OCR</a:t>
            </a:r>
          </a:p>
          <a:p>
            <a:pPr algn="l">
              <a:buFont typeface="Arial"/>
              <a:buChar char="•"/>
            </a:pPr>
            <a:r>
              <a:rPr lang="en-US" sz="1400"/>
              <a:t>Feb–Mar: Slate integration, export features</a:t>
            </a:r>
          </a:p>
          <a:p>
            <a:pPr algn="l">
              <a:buFont typeface="Arial"/>
              <a:buChar char="•"/>
            </a:pPr>
            <a:r>
              <a:rPr lang="en-US" sz="1400"/>
              <a:t>Mar–Apr: Performance &amp; scalability tuning</a:t>
            </a:r>
          </a:p>
          <a:p>
            <a:pPr algn="l">
              <a:buFont typeface="Arial"/>
              <a:buChar char="•"/>
            </a:pPr>
            <a:r>
              <a:rPr lang="en-US" sz="1400"/>
              <a:t>Apr–May: Final testing &amp; user evaluation</a:t>
            </a:r>
          </a:p>
        </p:txBody>
      </p:sp>
      <p:grpSp>
        <p:nvGrpSpPr>
          <p:cNvPr id="573" name="Google Shape;573;p42">
            <a:extLst>
              <a:ext uri="{FF2B5EF4-FFF2-40B4-BE49-F238E27FC236}">
                <a16:creationId xmlns:a16="http://schemas.microsoft.com/office/drawing/2014/main" id="{F754DDD8-AF0B-C77E-DCD8-0DF31696B169}"/>
              </a:ext>
            </a:extLst>
          </p:cNvPr>
          <p:cNvGrpSpPr/>
          <p:nvPr/>
        </p:nvGrpSpPr>
        <p:grpSpPr>
          <a:xfrm flipH="1">
            <a:off x="6936950" y="3937575"/>
            <a:ext cx="813900" cy="818100"/>
            <a:chOff x="8014675" y="343325"/>
            <a:chExt cx="813900" cy="818100"/>
          </a:xfrm>
        </p:grpSpPr>
        <p:sp>
          <p:nvSpPr>
            <p:cNvPr id="574" name="Google Shape;574;p42">
              <a:extLst>
                <a:ext uri="{FF2B5EF4-FFF2-40B4-BE49-F238E27FC236}">
                  <a16:creationId xmlns:a16="http://schemas.microsoft.com/office/drawing/2014/main" id="{F1B7897F-B994-AF39-4995-383E872A6AAD}"/>
                </a:ext>
              </a:extLst>
            </p:cNvPr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2">
              <a:extLst>
                <a:ext uri="{FF2B5EF4-FFF2-40B4-BE49-F238E27FC236}">
                  <a16:creationId xmlns:a16="http://schemas.microsoft.com/office/drawing/2014/main" id="{9A30EF0D-A264-D7E8-75FD-ECAB78A1848D}"/>
                </a:ext>
              </a:extLst>
            </p:cNvPr>
            <p:cNvSpPr/>
            <p:nvPr/>
          </p:nvSpPr>
          <p:spPr>
            <a:xfrm rot="-5400000">
              <a:off x="8012575" y="345425"/>
              <a:ext cx="818100" cy="8139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42">
            <a:extLst>
              <a:ext uri="{FF2B5EF4-FFF2-40B4-BE49-F238E27FC236}">
                <a16:creationId xmlns:a16="http://schemas.microsoft.com/office/drawing/2014/main" id="{85AF7072-1150-CE82-DEC9-8FC7EDC2E591}"/>
              </a:ext>
            </a:extLst>
          </p:cNvPr>
          <p:cNvGrpSpPr/>
          <p:nvPr/>
        </p:nvGrpSpPr>
        <p:grpSpPr>
          <a:xfrm rot="-5400000">
            <a:off x="-251725" y="3299300"/>
            <a:ext cx="2278800" cy="330600"/>
            <a:chOff x="722375" y="4604000"/>
            <a:chExt cx="2278800" cy="330600"/>
          </a:xfrm>
        </p:grpSpPr>
        <p:sp>
          <p:nvSpPr>
            <p:cNvPr id="577" name="Google Shape;577;p42">
              <a:extLst>
                <a:ext uri="{FF2B5EF4-FFF2-40B4-BE49-F238E27FC236}">
                  <a16:creationId xmlns:a16="http://schemas.microsoft.com/office/drawing/2014/main" id="{C9C9E483-0B67-88E7-006C-422ABA1CA041}"/>
                </a:ext>
              </a:extLst>
            </p:cNvPr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2">
              <a:extLst>
                <a:ext uri="{FF2B5EF4-FFF2-40B4-BE49-F238E27FC236}">
                  <a16:creationId xmlns:a16="http://schemas.microsoft.com/office/drawing/2014/main" id="{DE080E32-AE3C-A065-D269-84A54EEB1605}"/>
                </a:ext>
              </a:extLst>
            </p:cNvPr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2">
            <a:extLst>
              <a:ext uri="{FF2B5EF4-FFF2-40B4-BE49-F238E27FC236}">
                <a16:creationId xmlns:a16="http://schemas.microsoft.com/office/drawing/2014/main" id="{D3D50890-F739-F2CA-87F9-6910732997DC}"/>
              </a:ext>
            </a:extLst>
          </p:cNvPr>
          <p:cNvSpPr/>
          <p:nvPr/>
        </p:nvSpPr>
        <p:spPr>
          <a:xfrm>
            <a:off x="8120213" y="251450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9382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>
          <a:extLst>
            <a:ext uri="{FF2B5EF4-FFF2-40B4-BE49-F238E27FC236}">
              <a16:creationId xmlns:a16="http://schemas.microsoft.com/office/drawing/2014/main" id="{8360ED42-1BF9-0740-BB8D-41EACEBC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42">
            <a:extLst>
              <a:ext uri="{FF2B5EF4-FFF2-40B4-BE49-F238E27FC236}">
                <a16:creationId xmlns:a16="http://schemas.microsoft.com/office/drawing/2014/main" id="{90910D7D-2309-ECEF-C3DE-378DF2FE8B57}"/>
              </a:ext>
            </a:extLst>
          </p:cNvPr>
          <p:cNvGrpSpPr/>
          <p:nvPr/>
        </p:nvGrpSpPr>
        <p:grpSpPr>
          <a:xfrm flipH="1">
            <a:off x="5728737" y="0"/>
            <a:ext cx="3415264" cy="2172858"/>
            <a:chOff x="0" y="3"/>
            <a:chExt cx="4201850" cy="2673300"/>
          </a:xfrm>
        </p:grpSpPr>
        <p:cxnSp>
          <p:nvCxnSpPr>
            <p:cNvPr id="558" name="Google Shape;558;p42">
              <a:extLst>
                <a:ext uri="{FF2B5EF4-FFF2-40B4-BE49-F238E27FC236}">
                  <a16:creationId xmlns:a16="http://schemas.microsoft.com/office/drawing/2014/main" id="{24DA8231-3591-14B5-1B57-A6F670349077}"/>
                </a:ext>
              </a:extLst>
            </p:cNvPr>
            <p:cNvCxnSpPr/>
            <p:nvPr/>
          </p:nvCxnSpPr>
          <p:spPr>
            <a:xfrm>
              <a:off x="0" y="5414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42">
              <a:extLst>
                <a:ext uri="{FF2B5EF4-FFF2-40B4-BE49-F238E27FC236}">
                  <a16:creationId xmlns:a16="http://schemas.microsoft.com/office/drawing/2014/main" id="{42362D00-8086-5B45-6AC8-673890C077D5}"/>
                </a:ext>
              </a:extLst>
            </p:cNvPr>
            <p:cNvCxnSpPr/>
            <p:nvPr/>
          </p:nvCxnSpPr>
          <p:spPr>
            <a:xfrm>
              <a:off x="0" y="10760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42">
              <a:extLst>
                <a:ext uri="{FF2B5EF4-FFF2-40B4-BE49-F238E27FC236}">
                  <a16:creationId xmlns:a16="http://schemas.microsoft.com/office/drawing/2014/main" id="{E62071FB-882F-4F1E-421C-4A95F6D7B18E}"/>
                </a:ext>
              </a:extLst>
            </p:cNvPr>
            <p:cNvCxnSpPr/>
            <p:nvPr/>
          </p:nvCxnSpPr>
          <p:spPr>
            <a:xfrm>
              <a:off x="0" y="161065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42">
              <a:extLst>
                <a:ext uri="{FF2B5EF4-FFF2-40B4-BE49-F238E27FC236}">
                  <a16:creationId xmlns:a16="http://schemas.microsoft.com/office/drawing/2014/main" id="{4A79B6D5-D6E5-7DA6-E1AA-2E14E5A92A25}"/>
                </a:ext>
              </a:extLst>
            </p:cNvPr>
            <p:cNvCxnSpPr/>
            <p:nvPr/>
          </p:nvCxnSpPr>
          <p:spPr>
            <a:xfrm>
              <a:off x="5278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42">
              <a:extLst>
                <a:ext uri="{FF2B5EF4-FFF2-40B4-BE49-F238E27FC236}">
                  <a16:creationId xmlns:a16="http://schemas.microsoft.com/office/drawing/2014/main" id="{2304CC9E-7A82-695D-D4D7-6541F062DBF9}"/>
                </a:ext>
              </a:extLst>
            </p:cNvPr>
            <p:cNvCxnSpPr/>
            <p:nvPr/>
          </p:nvCxnSpPr>
          <p:spPr>
            <a:xfrm>
              <a:off x="10556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42">
              <a:extLst>
                <a:ext uri="{FF2B5EF4-FFF2-40B4-BE49-F238E27FC236}">
                  <a16:creationId xmlns:a16="http://schemas.microsoft.com/office/drawing/2014/main" id="{4C4384F7-B08A-F223-510A-A36DF459D009}"/>
                </a:ext>
              </a:extLst>
            </p:cNvPr>
            <p:cNvCxnSpPr/>
            <p:nvPr/>
          </p:nvCxnSpPr>
          <p:spPr>
            <a:xfrm>
              <a:off x="15765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42">
              <a:extLst>
                <a:ext uri="{FF2B5EF4-FFF2-40B4-BE49-F238E27FC236}">
                  <a16:creationId xmlns:a16="http://schemas.microsoft.com/office/drawing/2014/main" id="{7A55B5F1-DDAB-810C-CD2C-743AC74E2256}"/>
                </a:ext>
              </a:extLst>
            </p:cNvPr>
            <p:cNvCxnSpPr/>
            <p:nvPr/>
          </p:nvCxnSpPr>
          <p:spPr>
            <a:xfrm>
              <a:off x="21043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42">
              <a:extLst>
                <a:ext uri="{FF2B5EF4-FFF2-40B4-BE49-F238E27FC236}">
                  <a16:creationId xmlns:a16="http://schemas.microsoft.com/office/drawing/2014/main" id="{DE8C07F2-B3CD-A87D-C095-91EA5DB29FDF}"/>
                </a:ext>
              </a:extLst>
            </p:cNvPr>
            <p:cNvCxnSpPr/>
            <p:nvPr/>
          </p:nvCxnSpPr>
          <p:spPr>
            <a:xfrm>
              <a:off x="26253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42">
              <a:extLst>
                <a:ext uri="{FF2B5EF4-FFF2-40B4-BE49-F238E27FC236}">
                  <a16:creationId xmlns:a16="http://schemas.microsoft.com/office/drawing/2014/main" id="{B7696D8E-9ECD-214E-3DBA-524D25F611CD}"/>
                </a:ext>
              </a:extLst>
            </p:cNvPr>
            <p:cNvCxnSpPr/>
            <p:nvPr/>
          </p:nvCxnSpPr>
          <p:spPr>
            <a:xfrm>
              <a:off x="315310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42">
              <a:extLst>
                <a:ext uri="{FF2B5EF4-FFF2-40B4-BE49-F238E27FC236}">
                  <a16:creationId xmlns:a16="http://schemas.microsoft.com/office/drawing/2014/main" id="{D144F4FC-F400-8E4C-BD19-57FEFB5B5003}"/>
                </a:ext>
              </a:extLst>
            </p:cNvPr>
            <p:cNvCxnSpPr/>
            <p:nvPr/>
          </p:nvCxnSpPr>
          <p:spPr>
            <a:xfrm>
              <a:off x="36740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42">
              <a:extLst>
                <a:ext uri="{FF2B5EF4-FFF2-40B4-BE49-F238E27FC236}">
                  <a16:creationId xmlns:a16="http://schemas.microsoft.com/office/drawing/2014/main" id="{9E15230F-624D-FA67-B1C1-9C6B2438CD44}"/>
                </a:ext>
              </a:extLst>
            </p:cNvPr>
            <p:cNvCxnSpPr/>
            <p:nvPr/>
          </p:nvCxnSpPr>
          <p:spPr>
            <a:xfrm>
              <a:off x="4201850" y="3"/>
              <a:ext cx="0" cy="267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42">
              <a:extLst>
                <a:ext uri="{FF2B5EF4-FFF2-40B4-BE49-F238E27FC236}">
                  <a16:creationId xmlns:a16="http://schemas.microsoft.com/office/drawing/2014/main" id="{C5F5EA8D-47A9-45C2-341C-3F33234A2EF7}"/>
                </a:ext>
              </a:extLst>
            </p:cNvPr>
            <p:cNvCxnSpPr/>
            <p:nvPr/>
          </p:nvCxnSpPr>
          <p:spPr>
            <a:xfrm>
              <a:off x="0" y="21387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2">
              <a:extLst>
                <a:ext uri="{FF2B5EF4-FFF2-40B4-BE49-F238E27FC236}">
                  <a16:creationId xmlns:a16="http://schemas.microsoft.com/office/drawing/2014/main" id="{FF5A6D51-9C63-F24C-06DE-9301B80897E6}"/>
                </a:ext>
              </a:extLst>
            </p:cNvPr>
            <p:cNvCxnSpPr/>
            <p:nvPr/>
          </p:nvCxnSpPr>
          <p:spPr>
            <a:xfrm>
              <a:off x="0" y="2673300"/>
              <a:ext cx="420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1" name="Google Shape;571;p42">
            <a:extLst>
              <a:ext uri="{FF2B5EF4-FFF2-40B4-BE49-F238E27FC236}">
                <a16:creationId xmlns:a16="http://schemas.microsoft.com/office/drawing/2014/main" id="{F9D25034-9777-FE48-1292-F844461E3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6446" y="405590"/>
            <a:ext cx="6010200" cy="9842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72" name="Google Shape;572;p42">
            <a:extLst>
              <a:ext uri="{FF2B5EF4-FFF2-40B4-BE49-F238E27FC236}">
                <a16:creationId xmlns:a16="http://schemas.microsoft.com/office/drawing/2014/main" id="{98A8BE39-4F2A-B6E6-0B30-194E54BE9C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67206" y="1771577"/>
            <a:ext cx="6010200" cy="2086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/>
              <a:t>Reflection</a:t>
            </a:r>
            <a:r>
              <a:rPr lang="en-US"/>
              <a:t>: Strong progress in fraud detection, scoring, and AI-assisted analysis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/>
              <a:t>Lessons Learned</a:t>
            </a:r>
            <a:r>
              <a:rPr lang="en-US"/>
              <a:t>: Value of fallback methods, robust error handling, and explainable AI outputs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/>
              <a:t>Overall Achievement</a:t>
            </a:r>
            <a:r>
              <a:rPr lang="en-US"/>
              <a:t>: System now delivers reliable, actionable insights for international student applications</a:t>
            </a:r>
            <a:endParaRPr/>
          </a:p>
        </p:txBody>
      </p:sp>
      <p:grpSp>
        <p:nvGrpSpPr>
          <p:cNvPr id="573" name="Google Shape;573;p42">
            <a:extLst>
              <a:ext uri="{FF2B5EF4-FFF2-40B4-BE49-F238E27FC236}">
                <a16:creationId xmlns:a16="http://schemas.microsoft.com/office/drawing/2014/main" id="{BF253563-CD92-0369-CC18-4556B6CD08CD}"/>
              </a:ext>
            </a:extLst>
          </p:cNvPr>
          <p:cNvGrpSpPr/>
          <p:nvPr/>
        </p:nvGrpSpPr>
        <p:grpSpPr>
          <a:xfrm flipH="1">
            <a:off x="6936950" y="3937575"/>
            <a:ext cx="813900" cy="818100"/>
            <a:chOff x="8014675" y="343325"/>
            <a:chExt cx="813900" cy="818100"/>
          </a:xfrm>
        </p:grpSpPr>
        <p:sp>
          <p:nvSpPr>
            <p:cNvPr id="574" name="Google Shape;574;p42">
              <a:extLst>
                <a:ext uri="{FF2B5EF4-FFF2-40B4-BE49-F238E27FC236}">
                  <a16:creationId xmlns:a16="http://schemas.microsoft.com/office/drawing/2014/main" id="{E925CF9D-8BC9-6D0D-5557-112E00A2C199}"/>
                </a:ext>
              </a:extLst>
            </p:cNvPr>
            <p:cNvSpPr/>
            <p:nvPr/>
          </p:nvSpPr>
          <p:spPr>
            <a:xfrm>
              <a:off x="8069575" y="400325"/>
              <a:ext cx="704100" cy="7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2">
              <a:extLst>
                <a:ext uri="{FF2B5EF4-FFF2-40B4-BE49-F238E27FC236}">
                  <a16:creationId xmlns:a16="http://schemas.microsoft.com/office/drawing/2014/main" id="{5EA1C1D4-870D-D7FB-5042-72380E5E36E7}"/>
                </a:ext>
              </a:extLst>
            </p:cNvPr>
            <p:cNvSpPr/>
            <p:nvPr/>
          </p:nvSpPr>
          <p:spPr>
            <a:xfrm rot="-5400000">
              <a:off x="8012575" y="345425"/>
              <a:ext cx="818100" cy="8139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42">
            <a:extLst>
              <a:ext uri="{FF2B5EF4-FFF2-40B4-BE49-F238E27FC236}">
                <a16:creationId xmlns:a16="http://schemas.microsoft.com/office/drawing/2014/main" id="{8A4FCCF2-110D-E302-1C53-C88AEAB49877}"/>
              </a:ext>
            </a:extLst>
          </p:cNvPr>
          <p:cNvGrpSpPr/>
          <p:nvPr/>
        </p:nvGrpSpPr>
        <p:grpSpPr>
          <a:xfrm rot="-5400000">
            <a:off x="-251725" y="3299300"/>
            <a:ext cx="2278800" cy="330600"/>
            <a:chOff x="722375" y="4604000"/>
            <a:chExt cx="2278800" cy="330600"/>
          </a:xfrm>
        </p:grpSpPr>
        <p:sp>
          <p:nvSpPr>
            <p:cNvPr id="577" name="Google Shape;577;p42">
              <a:extLst>
                <a:ext uri="{FF2B5EF4-FFF2-40B4-BE49-F238E27FC236}">
                  <a16:creationId xmlns:a16="http://schemas.microsoft.com/office/drawing/2014/main" id="{6C419D95-5E99-CF8B-11F2-03C1AA0DAA20}"/>
                </a:ext>
              </a:extLst>
            </p:cNvPr>
            <p:cNvSpPr/>
            <p:nvPr/>
          </p:nvSpPr>
          <p:spPr>
            <a:xfrm flipH="1">
              <a:off x="722375" y="4604000"/>
              <a:ext cx="2278800" cy="330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2">
              <a:extLst>
                <a:ext uri="{FF2B5EF4-FFF2-40B4-BE49-F238E27FC236}">
                  <a16:creationId xmlns:a16="http://schemas.microsoft.com/office/drawing/2014/main" id="{B8BAD5C0-2A30-835C-430D-B7D48D50AC37}"/>
                </a:ext>
              </a:extLst>
            </p:cNvPr>
            <p:cNvSpPr/>
            <p:nvPr/>
          </p:nvSpPr>
          <p:spPr>
            <a:xfrm flipH="1">
              <a:off x="774833" y="4665588"/>
              <a:ext cx="470100" cy="20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2">
            <a:extLst>
              <a:ext uri="{FF2B5EF4-FFF2-40B4-BE49-F238E27FC236}">
                <a16:creationId xmlns:a16="http://schemas.microsoft.com/office/drawing/2014/main" id="{B7E73368-5283-D1E6-D69E-E324A6AFC69D}"/>
              </a:ext>
            </a:extLst>
          </p:cNvPr>
          <p:cNvSpPr/>
          <p:nvPr/>
        </p:nvSpPr>
        <p:spPr>
          <a:xfrm>
            <a:off x="8120213" y="2514500"/>
            <a:ext cx="602815" cy="601482"/>
          </a:xfrm>
          <a:custGeom>
            <a:avLst/>
            <a:gdLst/>
            <a:ahLst/>
            <a:cxnLst/>
            <a:rect l="l" t="t" r="r" b="b"/>
            <a:pathLst>
              <a:path w="32392" h="32316" extrusionOk="0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2">
            <a:extLst>
              <a:ext uri="{FF2B5EF4-FFF2-40B4-BE49-F238E27FC236}">
                <a16:creationId xmlns:a16="http://schemas.microsoft.com/office/drawing/2014/main" id="{78C4B606-FD8D-481A-4D29-9193D20E140A}"/>
              </a:ext>
            </a:extLst>
          </p:cNvPr>
          <p:cNvSpPr/>
          <p:nvPr/>
        </p:nvSpPr>
        <p:spPr>
          <a:xfrm rot="10800000">
            <a:off x="2013600" y="4308128"/>
            <a:ext cx="1389342" cy="1077745"/>
          </a:xfrm>
          <a:custGeom>
            <a:avLst/>
            <a:gdLst/>
            <a:ahLst/>
            <a:cxnLst/>
            <a:rect l="l" t="t" r="r" b="b"/>
            <a:pathLst>
              <a:path w="77293" h="59958" extrusionOk="0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784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05F96-FCD8-5509-3938-D0F6C05A8B2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64481" y="2047875"/>
            <a:ext cx="6010275" cy="1055688"/>
          </a:xfrm>
        </p:spPr>
        <p:txBody>
          <a:bodyPr/>
          <a:lstStyle/>
          <a:p>
            <a:r>
              <a:rPr lang="en-US" sz="540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74308365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al Marketing Strategy by Slidesgo">
  <a:themeElements>
    <a:clrScheme name="Simple Light">
      <a:dk1>
        <a:srgbClr val="000000"/>
      </a:dk1>
      <a:lt1>
        <a:srgbClr val="F7F7F6"/>
      </a:lt1>
      <a:dk2>
        <a:srgbClr val="BFED4E"/>
      </a:dk2>
      <a:lt2>
        <a:srgbClr val="977DF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2b2a0e8-8e92-4637-bc7e-6fec6a5e785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5F08E2A9E61441BC0CA1A08A513354" ma:contentTypeVersion="10" ma:contentTypeDescription="Create a new document." ma:contentTypeScope="" ma:versionID="81a759162dc0b24131e832ba432847b7">
  <xsd:schema xmlns:xsd="http://www.w3.org/2001/XMLSchema" xmlns:xs="http://www.w3.org/2001/XMLSchema" xmlns:p="http://schemas.microsoft.com/office/2006/metadata/properties" xmlns:ns3="82b2a0e8-8e92-4637-bc7e-6fec6a5e785f" targetNamespace="http://schemas.microsoft.com/office/2006/metadata/properties" ma:root="true" ma:fieldsID="541e33f3f1a3bcee2483e1da87474a41" ns3:_="">
    <xsd:import namespace="82b2a0e8-8e92-4637-bc7e-6fec6a5e785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b2a0e8-8e92-4637-bc7e-6fec6a5e78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89770A-93D8-494B-BCC2-615E049225E1}">
  <ds:schemaRefs>
    <ds:schemaRef ds:uri="82b2a0e8-8e92-4637-bc7e-6fec6a5e785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EFFE0E0-403D-4E4E-B50D-20C5DBD69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27D40F-0DA1-4051-BA66-6BA92B2FC6EB}">
  <ds:schemaRefs>
    <ds:schemaRef ds:uri="82b2a0e8-8e92-4637-bc7e-6fec6a5e78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16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Internal Marketing Strategy by Slidesgo</vt:lpstr>
      <vt:lpstr>International Applicant Rating ALGORITHM</vt:lpstr>
      <vt:lpstr>Project Overview</vt:lpstr>
      <vt:lpstr>Functional Requirements</vt:lpstr>
      <vt:lpstr>Non-Functional Requirements</vt:lpstr>
      <vt:lpstr>System Architecture</vt:lpstr>
      <vt:lpstr>Architecture Diagram</vt:lpstr>
      <vt:lpstr>Sprint 3 Achievements</vt:lpstr>
      <vt:lpstr>Sprint 3 Retrospective</vt:lpstr>
      <vt:lpstr>Feature Overview</vt:lpstr>
      <vt:lpstr>Live Demo</vt:lpstr>
      <vt:lpstr>User Interface</vt:lpstr>
      <vt:lpstr>Testing</vt:lpstr>
      <vt:lpstr>Responsible Use of AI </vt:lpstr>
      <vt:lpstr>Next Semester Plan &amp; Deliverables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terms:modified xsi:type="dcterms:W3CDTF">2025-12-06T04:59:13Z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0x010100445F08E2A9E61441BC0CA1A08A513354</vt:lpwstr>
  </property>
</Properties>
</file>