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65" r:id="rId3"/>
    <p:sldId id="266" r:id="rId4"/>
    <p:sldId id="262" r:id="rId5"/>
    <p:sldId id="263" r:id="rId6"/>
    <p:sldId id="256" r:id="rId7"/>
    <p:sldId id="268" r:id="rId8"/>
    <p:sldId id="267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14FBC-5F36-E2F9-615C-17CD4756E6DE}" v="514" dt="2025-10-06T05:45:39.566"/>
    <p1510:client id="{A5E25C52-7AD9-3F74-C9F6-33D7C75BC39A}" v="294" dt="2025-10-06T05:42:43.714"/>
    <p1510:client id="{ACB48524-8D19-ED57-B2BB-F8846648D6DB}" v="83" dt="2025-10-06T06:23:33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3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12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7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5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4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4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9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7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86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4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1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480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8982-1563-C6F6-8147-09816B459C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International Student Scoring System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BF2B4-6CAD-13D3-DB6E-67E67F6EF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8882898" cy="1287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/>
              <a:t>Sprint: 1 </a:t>
            </a:r>
            <a:r>
              <a:rPr lang="en-US" b="0">
                <a:ea typeface="+mn-lt"/>
                <a:cs typeface="+mn-lt"/>
              </a:rPr>
              <a:t>Demo by Team 25 Washington State University</a:t>
            </a:r>
          </a:p>
          <a:p>
            <a:r>
              <a:rPr lang="en-US" sz="1200">
                <a:ea typeface="+mn-lt"/>
                <a:cs typeface="+mn-lt"/>
              </a:rPr>
              <a:t>Presented by: Khushi Panchal, Steven Bennet</a:t>
            </a:r>
          </a:p>
          <a:p>
            <a:r>
              <a:rPr lang="en-US" sz="1200"/>
              <a:t>Client: International Programs WSU</a:t>
            </a:r>
          </a:p>
        </p:txBody>
      </p:sp>
    </p:spTree>
    <p:extLst>
      <p:ext uri="{BB962C8B-B14F-4D97-AF65-F5344CB8AC3E}">
        <p14:creationId xmlns:p14="http://schemas.microsoft.com/office/powerpoint/2010/main" val="103527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DD41-29A1-636D-CF1F-BEC031A1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</a:t>
            </a:r>
            <a:r>
              <a:rPr lang="en-US">
                <a:ea typeface="+mj-lt"/>
                <a:cs typeface="+mj-lt"/>
              </a:rPr>
              <a:t>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70491-9A0E-BD2B-EBEE-4DA53F530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Predict enrollment likelihood of international applicants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Automate scoring and manual review process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 admission decisions with data-driven insights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Sprint 1 Objectives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Gather requirements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Create documentation (User Stories, Use Cases, UML)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Identify and learn full-stack frameworks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3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BD90-A579-17FC-0B14-7890F673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Goals for Sprint 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7450E-C4C0-4EB1-7223-0B5C81B53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Conduct client requirement meetings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Develop user stories &amp; UML documentation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Evaluate existing systems (Slate, PeopleSoft)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Identify frameworks: React &amp; Node.js/Express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Begin initial feature development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2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2537-3D75-564E-8803-20495B2D5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Requirements Gathering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C5E2-9D7E-B24B-69E1-1CFFAA678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Process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 client meetings via Zoom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Requirement Q&amp;A + shared docs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Key Insights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Score applicants by category &amp; overall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Manage multiple document types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Add manual review for flagged cases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Focus on key regions (South Asia, Vietnam, Kenya, Nigeria)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Output: Spreadsheet reports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90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8AB8-8844-5EEA-A2B1-0196535E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292D-D2C0-F0AA-84AE-13B5A00F7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5343525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User Stories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Admissions officer → view applicant scores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Admin → flag suspicious documents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System → export results to spreadsheet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F43C99-8B06-EB0E-F0A5-D67D61C2AE93}"/>
              </a:ext>
            </a:extLst>
          </p:cNvPr>
          <p:cNvSpPr txBox="1">
            <a:spLocks/>
          </p:cNvSpPr>
          <p:nvPr/>
        </p:nvSpPr>
        <p:spPr>
          <a:xfrm>
            <a:off x="6353174" y="2559171"/>
            <a:ext cx="5343525" cy="33826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>
                <a:ea typeface="+mn-lt"/>
                <a:cs typeface="+mn-lt"/>
              </a:rPr>
              <a:t>Use Case Diagram Highlights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Score Applicant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Upload Documents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Flag for Manual Review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Export Data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56567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226" y="1371601"/>
            <a:ext cx="10363200" cy="1187570"/>
          </a:xfrm>
        </p:spPr>
        <p:txBody>
          <a:bodyPr/>
          <a:lstStyle/>
          <a:p>
            <a:r>
              <a:rPr lang="en-US"/>
              <a:t>Use case/ UML Diagram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AD78656-7BB9-839B-AA33-FEF43C728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021" y="1376708"/>
            <a:ext cx="5332481" cy="4833454"/>
          </a:xfrm>
          <a:prstGeom prst="rect">
            <a:avLst/>
          </a:prstGeom>
        </p:spPr>
      </p:pic>
      <p:pic>
        <p:nvPicPr>
          <p:cNvPr id="5" name="Picture 4" descr="A diagram of a person&amp;#39;s work flow&#10;&#10;AI-generated content may be incorrect.">
            <a:extLst>
              <a:ext uri="{FF2B5EF4-FFF2-40B4-BE49-F238E27FC236}">
                <a16:creationId xmlns:a16="http://schemas.microsoft.com/office/drawing/2014/main" id="{1B4B32FC-AED3-A798-6EC0-0B7CF8C48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72" r="-246" b="-296"/>
          <a:stretch>
            <a:fillRect/>
          </a:stretch>
        </p:blipFill>
        <p:spPr>
          <a:xfrm>
            <a:off x="612361" y="2489752"/>
            <a:ext cx="5478677" cy="370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EF9A-7C05-DB2C-1477-D9DD2E59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Demonstration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8A99-D6D8-2CA2-4C0F-D2CD25222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5076825" cy="338265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🧮</a:t>
            </a:r>
            <a:r>
              <a:rPr lang="en-US" b="1">
                <a:ea typeface="+mn-lt"/>
                <a:cs typeface="+mn-lt"/>
              </a:rPr>
              <a:t>Scoring Algorithm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Calculates category-specific + overall scores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Uses test applicant dataset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📂Document Handling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Accepts file uploads (transcripts, financials, essays)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Stores securely in system database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🚩 Manual Review System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Flags suspicious or incomplete applications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Allows admissions officers to review manually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AAC9-197C-F593-2C8C-51005ABF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91C59-6BC1-4487-A36E-49C839168A7E}" type="datetime1"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96A5-9686-1B14-89C4-1E2E7A58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96C41-6960-FBDB-34E4-E5F4EA5E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EB9D-A03E-BE7F-C25A-91A97550AE15}"/>
              </a:ext>
            </a:extLst>
          </p:cNvPr>
          <p:cNvSpPr txBox="1"/>
          <p:nvPr/>
        </p:nvSpPr>
        <p:spPr>
          <a:xfrm>
            <a:off x="6424612" y="2559843"/>
            <a:ext cx="4857750" cy="24878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1000"/>
              </a:spcBef>
              <a:buSzPct val="87000"/>
            </a:pPr>
            <a:r>
              <a:rPr lang="en-US" sz="1600">
                <a:ea typeface="+mn-lt"/>
                <a:cs typeface="+mn-lt"/>
              </a:rPr>
              <a:t>📊 </a:t>
            </a:r>
            <a:r>
              <a:rPr lang="en-US" sz="1600" b="1">
                <a:ea typeface="+mn-lt"/>
                <a:cs typeface="+mn-lt"/>
              </a:rPr>
              <a:t>Data Export</a:t>
            </a:r>
            <a:endParaRPr lang="en-US" b="1"/>
          </a:p>
          <a:p>
            <a:pPr marL="228600" indent="-228600"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Exports scored applicants to spreadsheet</a:t>
            </a:r>
          </a:p>
          <a:p>
            <a:pPr marL="228600" indent="-228600"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Easy for client review and decision-making</a:t>
            </a:r>
          </a:p>
          <a:p>
            <a:pPr>
              <a:spcBef>
                <a:spcPts val="1000"/>
              </a:spcBef>
              <a:buSzPct val="87000"/>
            </a:pPr>
            <a:r>
              <a:rPr lang="en-US" sz="1600">
                <a:ea typeface="+mn-lt"/>
                <a:cs typeface="+mn-lt"/>
              </a:rPr>
              <a:t>⚙️ </a:t>
            </a:r>
            <a:r>
              <a:rPr lang="en-US" sz="1600" b="1">
                <a:ea typeface="+mn-lt"/>
                <a:cs typeface="+mn-lt"/>
              </a:rPr>
              <a:t>Future Progress (Sprint 2)</a:t>
            </a:r>
          </a:p>
          <a:p>
            <a:pPr marL="228600" indent="-228600"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Add automated fraud detection</a:t>
            </a:r>
          </a:p>
          <a:p>
            <a:pPr marL="228600" indent="-228600"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</a:pPr>
            <a:r>
              <a:rPr lang="en-US" sz="1600">
                <a:ea typeface="+mn-lt"/>
                <a:cs typeface="+mn-lt"/>
              </a:rPr>
              <a:t>Refine scoring logic + performance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40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ADDA-8036-8800-D632-A4C6D958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Kanban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0C22-31A5-CC6D-8207-A668AF43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935" y="148944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sz="1100">
                <a:latin typeface="Arial"/>
                <a:cs typeface="Arial"/>
              </a:rPr>
            </a:br>
            <a:br>
              <a:rPr lang="en-US" sz="1100">
                <a:latin typeface="Arial"/>
                <a:cs typeface="Arial"/>
              </a:rPr>
            </a:br>
            <a:r>
              <a:rPr lang="en-US" sz="2400">
                <a:latin typeface="Arial"/>
                <a:cs typeface="Arial"/>
              </a:rPr>
              <a:t>Requirements gathering, user story creation, UML documentation, skill acquisition.</a:t>
            </a:r>
            <a:br>
              <a:rPr lang="en-US" sz="1100">
                <a:latin typeface="Arial"/>
                <a:cs typeface="Arial"/>
              </a:rPr>
            </a:br>
            <a:endParaRPr lang="en-US" sz="1100">
              <a:latin typeface="Arial"/>
              <a:cs typeface="Arial"/>
            </a:endParaRPr>
          </a:p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7FF6EB-107B-2B05-03AD-09556F59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707" y="2560003"/>
            <a:ext cx="9278471" cy="39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0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BDA0-C26D-E295-E249-EAA0A879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Skills Identification and Learning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BEC7-42DC-CE3A-6D36-BEE4D6F18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460559"/>
            <a:ext cx="10363200" cy="39161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100" b="1">
                <a:latin typeface="Grandview Display"/>
                <a:cs typeface="Arial"/>
              </a:rPr>
              <a:t>Member 1 – Khushi (Front-End Development, Database Management)</a:t>
            </a:r>
            <a:endParaRPr lang="en-US"/>
          </a:p>
          <a:p>
            <a:r>
              <a:rPr lang="en-US" sz="2100">
                <a:latin typeface="Grandview Display"/>
                <a:cs typeface="Arial"/>
              </a:rPr>
              <a:t>Skill: React framework.</a:t>
            </a:r>
          </a:p>
          <a:p>
            <a:r>
              <a:rPr lang="en-US" sz="2100">
                <a:latin typeface="Grandview Display"/>
                <a:cs typeface="Arial"/>
              </a:rPr>
              <a:t>Skill: MongoDB (NoSQL).</a:t>
            </a:r>
          </a:p>
          <a:p>
            <a:pPr marL="0" indent="0">
              <a:buNone/>
            </a:pPr>
            <a:endParaRPr lang="en-US" sz="2100">
              <a:latin typeface="Grandview Display"/>
              <a:cs typeface="Arial"/>
            </a:endParaRPr>
          </a:p>
          <a:p>
            <a:pPr marL="0" indent="0">
              <a:buNone/>
            </a:pPr>
            <a:r>
              <a:rPr lang="en-US" sz="2100" b="1">
                <a:latin typeface="Grandview Display"/>
                <a:cs typeface="Arial"/>
              </a:rPr>
              <a:t>Member 2 – Steven (Back-End Development)</a:t>
            </a:r>
          </a:p>
          <a:p>
            <a:r>
              <a:rPr lang="en-US" sz="2100">
                <a:latin typeface="Grandview Display"/>
                <a:cs typeface="Arial"/>
              </a:rPr>
              <a:t>Skill: Node.js + Express.</a:t>
            </a:r>
          </a:p>
          <a:p>
            <a:pPr marL="0" indent="0">
              <a:buNone/>
            </a:pPr>
            <a:br>
              <a:rPr lang="en-US" sz="2100">
                <a:latin typeface="Grandview Display"/>
                <a:cs typeface="Arial"/>
              </a:rPr>
            </a:br>
            <a:br>
              <a:rPr lang="en-US" sz="1100">
                <a:latin typeface="Arial"/>
                <a:cs typeface="Arial"/>
              </a:rPr>
            </a:br>
            <a:br>
              <a:rPr lang="en-US" sz="1100">
                <a:latin typeface="Arial"/>
                <a:cs typeface="Arial"/>
              </a:rPr>
            </a:br>
            <a:endParaRPr lang="en-US" sz="1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9280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AAB29-09B0-2C03-A1D0-AB64F682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1 Achievements and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BCB91-771B-21BC-A5DE-8BAD27139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178171"/>
            <a:ext cx="10363200" cy="413345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Grandview Display"/>
                <a:cs typeface="Arial"/>
              </a:rPr>
              <a:t>Achievements: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Gathered requirements from the client and documented them.</a:t>
            </a:r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Created user stories, use cases, UML diagrams.</a:t>
            </a:r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Evaluated client systems and identified limitations.</a:t>
            </a:r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Developed prototype scoring algorithm and document handling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Grandview Display"/>
                <a:cs typeface="Arial"/>
              </a:rPr>
              <a:t>Challenges:</a:t>
            </a:r>
            <a:endParaRPr lang="en-US" b="1"/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Understanding how redacted or blurred documents might affect scoring.</a:t>
            </a:r>
          </a:p>
          <a:p>
            <a:pPr>
              <a:lnSpc>
                <a:spcPct val="100000"/>
              </a:lnSpc>
            </a:pPr>
            <a:r>
              <a:rPr lang="en-US">
                <a:latin typeface="Grandview Display"/>
                <a:cs typeface="Arial"/>
              </a:rPr>
              <a:t>Defining fraud detection rules for multiple document types.</a:t>
            </a:r>
          </a:p>
          <a:p>
            <a:r>
              <a:rPr lang="en-US">
                <a:latin typeface="Grandview Display"/>
                <a:cs typeface="Arial"/>
              </a:rPr>
              <a:t>Team addressed challenges by planning test cases and splitting responsibilities for evaluation.</a:t>
            </a:r>
            <a:br>
              <a:rPr lang="en-US">
                <a:latin typeface="Grandview Display"/>
                <a:cs typeface="Arial"/>
              </a:rPr>
            </a:br>
            <a:endParaRPr lang="en-US">
              <a:latin typeface="Grandview Display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64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37F5-C0DE-F1E3-354C-2E431CE3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Responsible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235E3-8065-19EC-8D2B-A75DE4137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9890872" cy="40774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100" b="1">
                <a:latin typeface="Grandview Display"/>
                <a:cs typeface="Arial"/>
              </a:rPr>
              <a:t>Disclosure</a:t>
            </a:r>
            <a:r>
              <a:rPr lang="en-US" sz="2100">
                <a:latin typeface="Grandview Display"/>
                <a:cs typeface="Arial"/>
              </a:rPr>
              <a:t>: Used ChatGPT to draft documentation and brainstorm UML diagrams.</a:t>
            </a:r>
          </a:p>
          <a:p>
            <a:r>
              <a:rPr lang="en-US" sz="2100" b="1">
                <a:latin typeface="Grandview Display"/>
                <a:cs typeface="Arial"/>
              </a:rPr>
              <a:t>Application</a:t>
            </a:r>
            <a:r>
              <a:rPr lang="en-US" sz="2100">
                <a:latin typeface="Grandview Display"/>
                <a:cs typeface="Arial"/>
              </a:rPr>
              <a:t>: AI assisted in creating initial user stories, structuring README, and suggesting UML components.</a:t>
            </a:r>
          </a:p>
          <a:p>
            <a:r>
              <a:rPr lang="en-US" sz="2100" b="1">
                <a:latin typeface="Grandview Display"/>
                <a:cs typeface="Arial"/>
              </a:rPr>
              <a:t>Limitations</a:t>
            </a:r>
            <a:r>
              <a:rPr lang="en-US" sz="2100">
                <a:latin typeface="Grandview Display"/>
                <a:cs typeface="Arial"/>
              </a:rPr>
              <a:t>: AI outputs required verification and refinement to align with client requirements.</a:t>
            </a:r>
          </a:p>
          <a:p>
            <a:r>
              <a:rPr lang="en-US" sz="2100" b="1">
                <a:latin typeface="Grandview Display"/>
                <a:cs typeface="Arial"/>
              </a:rPr>
              <a:t>Accountability</a:t>
            </a:r>
            <a:r>
              <a:rPr lang="en-US" sz="2100">
                <a:latin typeface="Grandview Display"/>
                <a:cs typeface="Arial"/>
              </a:rPr>
              <a:t>: All final deliverables and decisions were reviewed and approved by the team.</a:t>
            </a:r>
            <a:br>
              <a:rPr lang="en-US" sz="2100">
                <a:latin typeface="Grandview Display"/>
                <a:cs typeface="Arial"/>
              </a:rPr>
            </a:br>
            <a:endParaRPr lang="en-US" sz="2100">
              <a:latin typeface="Grandview Display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225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179E-1F33-D2D4-ADFA-058FBD3A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 and Retrospective 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95B5B-2A68-0FEC-D32F-740FF349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b="1">
                <a:latin typeface="Grandview Display"/>
                <a:cs typeface="Arial"/>
              </a:rPr>
              <a:t>Next Steps:</a:t>
            </a:r>
            <a:r>
              <a:rPr lang="en-US" sz="2100">
                <a:latin typeface="Grandview Display"/>
                <a:cs typeface="Arial"/>
              </a:rPr>
              <a:t> Begin coding front-end (React) and back-end (Node.js/Express) features based on Sprint 1 documentation. Adding fraud detection and allowing documents to be imported and exported.</a:t>
            </a:r>
          </a:p>
          <a:p>
            <a:r>
              <a:rPr lang="en-US" sz="2100" b="1">
                <a:latin typeface="Grandview Display"/>
                <a:cs typeface="Arial"/>
              </a:rPr>
              <a:t>Retrospective:</a:t>
            </a:r>
          </a:p>
          <a:p>
            <a:pPr marL="493395" lvl="1">
              <a:buFont typeface="Calibri" panose="020B0604020202020204" pitchFamily="34" charset="0"/>
              <a:buChar char="-"/>
            </a:pPr>
            <a:r>
              <a:rPr lang="en-US" sz="2100">
                <a:latin typeface="Grandview Display"/>
                <a:cs typeface="Arial"/>
              </a:rPr>
              <a:t>Went well: Team coordination, requirements collection, and initial documentation.</a:t>
            </a:r>
          </a:p>
          <a:p>
            <a:pPr marL="493395" lvl="1">
              <a:buFont typeface="Calibri" panose="020B0604020202020204" pitchFamily="34" charset="0"/>
              <a:buChar char="-"/>
            </a:pPr>
            <a:r>
              <a:rPr lang="en-US" sz="2100">
                <a:latin typeface="Grandview Display"/>
                <a:cs typeface="Arial"/>
              </a:rPr>
              <a:t>Areas to improve: Better time management for testing datasets and learning new frameworks faster.</a:t>
            </a:r>
            <a:br>
              <a:rPr lang="en-US" sz="2100">
                <a:latin typeface="Grandview Display"/>
                <a:cs typeface="Arial"/>
              </a:rPr>
            </a:br>
            <a:endParaRPr lang="en-US" sz="2100">
              <a:latin typeface="Grandview Display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1084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134F-E1CA-8FB8-D200-A5F35299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4A3FC-B0D7-A5BF-C115-53CA113EE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9896475" cy="3382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Thank you </a:t>
            </a:r>
            <a:r>
              <a:rPr lang="en-US"/>
              <a:t>to our stakeholder Trevor Kingsley as this would not be possible without his help! And Thank you our mentor Professor Parteek for the guidance.</a:t>
            </a:r>
          </a:p>
          <a:p>
            <a:r>
              <a:rPr lang="en-US"/>
              <a:t>We are excited to work on the next tasks to improve the application and will be ready by Sprint 2.</a:t>
            </a:r>
          </a:p>
        </p:txBody>
      </p:sp>
    </p:spTree>
    <p:extLst>
      <p:ext uri="{BB962C8B-B14F-4D97-AF65-F5344CB8AC3E}">
        <p14:creationId xmlns:p14="http://schemas.microsoft.com/office/powerpoint/2010/main" val="179368434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DashVTI</vt:lpstr>
      <vt:lpstr>International Student Scoring System</vt:lpstr>
      <vt:lpstr>Introduction</vt:lpstr>
      <vt:lpstr>Key Goals for Sprint 1</vt:lpstr>
      <vt:lpstr>Requirements Gathering</vt:lpstr>
      <vt:lpstr>Documentation Overview</vt:lpstr>
      <vt:lpstr>Use case/ UML Diagram</vt:lpstr>
      <vt:lpstr>Feature Demonstration</vt:lpstr>
      <vt:lpstr>Kanban Board</vt:lpstr>
      <vt:lpstr>Skills Identification and Learning Process</vt:lpstr>
      <vt:lpstr>Sprint 1 Achievements and Challenges</vt:lpstr>
      <vt:lpstr>Responsible Use of AI</vt:lpstr>
      <vt:lpstr>Next Steps and Retrospective 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2025-10-06T05:19:29Z</dcterms:created>
  <dcterms:modified xsi:type="dcterms:W3CDTF">2025-10-06T06:26:27Z</dcterms:modified>
</cp:coreProperties>
</file>